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0"/>
  </p:notesMasterIdLst>
  <p:sldIdLst>
    <p:sldId id="256" r:id="rId2"/>
    <p:sldId id="259" r:id="rId3"/>
    <p:sldId id="297" r:id="rId4"/>
    <p:sldId id="262" r:id="rId5"/>
    <p:sldId id="301" r:id="rId6"/>
    <p:sldId id="311" r:id="rId7"/>
    <p:sldId id="303" r:id="rId8"/>
    <p:sldId id="304" r:id="rId9"/>
    <p:sldId id="305" r:id="rId10"/>
    <p:sldId id="302" r:id="rId11"/>
    <p:sldId id="312" r:id="rId12"/>
    <p:sldId id="308" r:id="rId13"/>
    <p:sldId id="310" r:id="rId14"/>
    <p:sldId id="306" r:id="rId15"/>
    <p:sldId id="307" r:id="rId16"/>
    <p:sldId id="309" r:id="rId17"/>
    <p:sldId id="300" r:id="rId18"/>
    <p:sldId id="299" r:id="rId19"/>
  </p:sldIdLst>
  <p:sldSz cx="9144000" cy="5143500" type="screen16x9"/>
  <p:notesSz cx="6858000" cy="9144000"/>
  <p:embeddedFontLst>
    <p:embeddedFont>
      <p:font typeface="Hanken Grotesk" panose="020B0604020202020204" charset="0"/>
      <p:regular r:id="rId21"/>
      <p:bold r:id="rId22"/>
      <p:italic r:id="rId23"/>
      <p:boldItalic r:id="rId24"/>
    </p:embeddedFont>
    <p:embeddedFont>
      <p:font typeface="Syne" panose="020B0604020202020204" charset="0"/>
      <p:regular r:id="rId25"/>
      <p:bold r:id="rId26"/>
    </p:embeddedFont>
    <p:embeddedFont>
      <p:font typeface="Segoe UI" panose="020B0502040204020203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1E6657A-6963-4E39-9548-A4552C69D3C4}">
          <p14:sldIdLst>
            <p14:sldId id="256"/>
            <p14:sldId id="259"/>
            <p14:sldId id="297"/>
            <p14:sldId id="262"/>
            <p14:sldId id="301"/>
            <p14:sldId id="311"/>
            <p14:sldId id="303"/>
            <p14:sldId id="304"/>
            <p14:sldId id="305"/>
            <p14:sldId id="302"/>
            <p14:sldId id="312"/>
            <p14:sldId id="308"/>
            <p14:sldId id="310"/>
            <p14:sldId id="306"/>
            <p14:sldId id="307"/>
            <p14:sldId id="309"/>
            <p14:sldId id="300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67B484-4E7B-4F07-BAC0-5D669FEBD493}">
  <a:tblStyle styleId="{5067B484-4E7B-4F07-BAC0-5D669FEBD4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C06C31E-4F12-4365-A2F5-46F316341E5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660"/>
  </p:normalViewPr>
  <p:slideViewPr>
    <p:cSldViewPr snapToGrid="0">
      <p:cViewPr>
        <p:scale>
          <a:sx n="110" d="100"/>
          <a:sy n="110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02000" y="148750"/>
            <a:ext cx="8835576" cy="4455225"/>
            <a:chOff x="102000" y="148750"/>
            <a:chExt cx="8835576" cy="4455225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102000" y="3341825"/>
              <a:ext cx="973750" cy="998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1207950" y="148750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8337150" y="3174900"/>
              <a:ext cx="600426" cy="615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4724750" y="4340150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926100" y="1409700"/>
            <a:ext cx="7291800" cy="14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45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45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45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45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45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45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45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45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926100" y="3135500"/>
            <a:ext cx="72918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3604256"/>
            <a:ext cx="9144000" cy="243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6"/>
          <p:cNvGrpSpPr/>
          <p:nvPr/>
        </p:nvGrpSpPr>
        <p:grpSpPr>
          <a:xfrm rot="10800000" flipH="1">
            <a:off x="154625" y="88065"/>
            <a:ext cx="8889538" cy="4311860"/>
            <a:chOff x="154625" y="654136"/>
            <a:chExt cx="8889538" cy="4311860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8622963" y="654136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6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224058" y="2432729"/>
              <a:ext cx="213025" cy="218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6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4848526" y="4625796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6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8576174" y="1298600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6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154625" y="1267603"/>
              <a:ext cx="5586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" name="Google Shape;58;p6"/>
          <p:cNvPicPr preferRelativeResize="0"/>
          <p:nvPr/>
        </p:nvPicPr>
        <p:blipFill rotWithShape="1">
          <a:blip r:embed="rId4">
            <a:alphaModFix amt="70000"/>
          </a:blip>
          <a:srcRect l="39426" t="55317"/>
          <a:stretch/>
        </p:blipFill>
        <p:spPr>
          <a:xfrm flipH="1">
            <a:off x="-1748175" y="3975775"/>
            <a:ext cx="2826325" cy="208495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7"/>
          <p:cNvGrpSpPr/>
          <p:nvPr/>
        </p:nvGrpSpPr>
        <p:grpSpPr>
          <a:xfrm>
            <a:off x="-330238" y="-553625"/>
            <a:ext cx="10002200" cy="5697076"/>
            <a:chOff x="-330238" y="-553625"/>
            <a:chExt cx="10002200" cy="5697076"/>
          </a:xfrm>
        </p:grpSpPr>
        <p:pic>
          <p:nvPicPr>
            <p:cNvPr id="62" name="Google Shape;62;p7"/>
            <p:cNvPicPr preferRelativeResize="0"/>
            <p:nvPr/>
          </p:nvPicPr>
          <p:blipFill rotWithShape="1">
            <a:blip r:embed="rId2">
              <a:alphaModFix amt="70000"/>
            </a:blip>
            <a:srcRect l="39609" t="55317"/>
            <a:stretch/>
          </p:blipFill>
          <p:spPr>
            <a:xfrm flipH="1">
              <a:off x="-330238" y="3599275"/>
              <a:ext cx="2086925" cy="1544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7"/>
            <p:cNvPicPr preferRelativeResize="0"/>
            <p:nvPr/>
          </p:nvPicPr>
          <p:blipFill rotWithShape="1">
            <a:blip r:embed="rId2">
              <a:alphaModFix amt="70000"/>
            </a:blip>
            <a:srcRect l="39609" t="55317"/>
            <a:stretch/>
          </p:blipFill>
          <p:spPr>
            <a:xfrm rot="10800000" flipH="1">
              <a:off x="7585037" y="-553625"/>
              <a:ext cx="2086924" cy="15441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" name="Google Shape;64;p7"/>
          <p:cNvGrpSpPr/>
          <p:nvPr/>
        </p:nvGrpSpPr>
        <p:grpSpPr>
          <a:xfrm flipH="1">
            <a:off x="220575" y="0"/>
            <a:ext cx="8742851" cy="5011966"/>
            <a:chOff x="194725" y="0"/>
            <a:chExt cx="8742851" cy="5011966"/>
          </a:xfrm>
        </p:grpSpPr>
        <p:pic>
          <p:nvPicPr>
            <p:cNvPr id="65" name="Google Shape;65;p7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>
              <a:off x="194725" y="3732883"/>
              <a:ext cx="257326" cy="2638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7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>
              <a:off x="2960900" y="0"/>
              <a:ext cx="381132" cy="390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7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>
              <a:off x="3614925" y="4396388"/>
              <a:ext cx="600426" cy="615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7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>
              <a:off x="8680250" y="2323988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7"/>
          <p:cNvSpPr txBox="1">
            <a:spLocks noGrp="1"/>
          </p:cNvSpPr>
          <p:nvPr>
            <p:ph type="title"/>
          </p:nvPr>
        </p:nvSpPr>
        <p:spPr>
          <a:xfrm>
            <a:off x="4364000" y="771925"/>
            <a:ext cx="3781500" cy="10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subTitle" idx="1"/>
          </p:nvPr>
        </p:nvSpPr>
        <p:spPr>
          <a:xfrm>
            <a:off x="4364000" y="1866025"/>
            <a:ext cx="37815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>
            <a:spLocks noGrp="1"/>
          </p:cNvSpPr>
          <p:nvPr>
            <p:ph type="pic" idx="2"/>
          </p:nvPr>
        </p:nvSpPr>
        <p:spPr>
          <a:xfrm>
            <a:off x="998500" y="539500"/>
            <a:ext cx="2760600" cy="40644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-365475" y="-65124"/>
            <a:ext cx="9957351" cy="5368312"/>
            <a:chOff x="-365475" y="-65124"/>
            <a:chExt cx="9957351" cy="5368312"/>
          </a:xfrm>
        </p:grpSpPr>
        <p:pic>
          <p:nvPicPr>
            <p:cNvPr id="86" name="Google Shape;86;p9"/>
            <p:cNvPicPr preferRelativeResize="0"/>
            <p:nvPr/>
          </p:nvPicPr>
          <p:blipFill rotWithShape="1">
            <a:blip r:embed="rId2">
              <a:alphaModFix amt="70000"/>
            </a:blip>
            <a:srcRect l="53782" t="64459"/>
            <a:stretch/>
          </p:blipFill>
          <p:spPr>
            <a:xfrm>
              <a:off x="7773375" y="3904812"/>
              <a:ext cx="1818501" cy="1398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9"/>
            <p:cNvPicPr preferRelativeResize="0"/>
            <p:nvPr/>
          </p:nvPicPr>
          <p:blipFill rotWithShape="1">
            <a:blip r:embed="rId3">
              <a:alphaModFix/>
            </a:blip>
            <a:srcRect t="49387"/>
            <a:stretch/>
          </p:blipFill>
          <p:spPr>
            <a:xfrm>
              <a:off x="-365475" y="-65124"/>
              <a:ext cx="2893201" cy="2603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9"/>
          <p:cNvGrpSpPr/>
          <p:nvPr/>
        </p:nvGrpSpPr>
        <p:grpSpPr>
          <a:xfrm>
            <a:off x="268013" y="56931"/>
            <a:ext cx="8721362" cy="4828619"/>
            <a:chOff x="268013" y="56931"/>
            <a:chExt cx="8721362" cy="4828619"/>
          </a:xfrm>
        </p:grpSpPr>
        <p:pic>
          <p:nvPicPr>
            <p:cNvPr id="89" name="Google Shape;89;p9"/>
            <p:cNvPicPr preferRelativeResize="0"/>
            <p:nvPr/>
          </p:nvPicPr>
          <p:blipFill rotWithShape="1">
            <a:blip r:embed="rId4">
              <a:alphaModFix/>
            </a:blip>
            <a:srcRect l="14123" t="12912" r="14473" b="13886"/>
            <a:stretch/>
          </p:blipFill>
          <p:spPr>
            <a:xfrm rot="10800000">
              <a:off x="7685913" y="4453712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9"/>
            <p:cNvPicPr preferRelativeResize="0"/>
            <p:nvPr/>
          </p:nvPicPr>
          <p:blipFill rotWithShape="1">
            <a:blip r:embed="rId5">
              <a:alphaModFix/>
            </a:blip>
            <a:srcRect l="14302" t="13395" r="14294" b="13403"/>
            <a:stretch/>
          </p:blipFill>
          <p:spPr>
            <a:xfrm rot="10800000">
              <a:off x="552383" y="2977506"/>
              <a:ext cx="213025" cy="218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9"/>
            <p:cNvPicPr preferRelativeResize="0"/>
            <p:nvPr/>
          </p:nvPicPr>
          <p:blipFill rotWithShape="1">
            <a:blip r:embed="rId4">
              <a:alphaModFix/>
            </a:blip>
            <a:srcRect l="14123" t="12912" r="14473" b="13886"/>
            <a:stretch/>
          </p:blipFill>
          <p:spPr>
            <a:xfrm rot="10800000">
              <a:off x="268013" y="3631065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9"/>
            <p:cNvPicPr preferRelativeResize="0"/>
            <p:nvPr/>
          </p:nvPicPr>
          <p:blipFill rotWithShape="1">
            <a:blip r:embed="rId5">
              <a:alphaModFix/>
            </a:blip>
            <a:srcRect l="14302" t="13395" r="14294" b="13403"/>
            <a:stretch/>
          </p:blipFill>
          <p:spPr>
            <a:xfrm rot="10800000">
              <a:off x="8028999" y="1262251"/>
              <a:ext cx="803550" cy="823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9"/>
            <p:cNvPicPr preferRelativeResize="0"/>
            <p:nvPr/>
          </p:nvPicPr>
          <p:blipFill rotWithShape="1">
            <a:blip r:embed="rId4">
              <a:alphaModFix/>
            </a:blip>
            <a:srcRect l="14123" t="12912" r="14473" b="13886"/>
            <a:stretch/>
          </p:blipFill>
          <p:spPr>
            <a:xfrm rot="10800000">
              <a:off x="8430775" y="2683733"/>
              <a:ext cx="558600" cy="57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9"/>
            <p:cNvPicPr preferRelativeResize="0"/>
            <p:nvPr/>
          </p:nvPicPr>
          <p:blipFill rotWithShape="1">
            <a:blip r:embed="rId5">
              <a:alphaModFix/>
            </a:blip>
            <a:srcRect l="14302" t="13395" r="14294" b="13403"/>
            <a:stretch/>
          </p:blipFill>
          <p:spPr>
            <a:xfrm rot="10800000">
              <a:off x="5237608" y="56931"/>
              <a:ext cx="213025" cy="2183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>
            <a:spLocks noGrp="1"/>
          </p:cNvSpPr>
          <p:nvPr>
            <p:ph type="pic" idx="2"/>
          </p:nvPr>
        </p:nvSpPr>
        <p:spPr>
          <a:xfrm>
            <a:off x="-7650" y="-7650"/>
            <a:ext cx="9159300" cy="5158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14"/>
          <p:cNvGrpSpPr/>
          <p:nvPr/>
        </p:nvGrpSpPr>
        <p:grpSpPr>
          <a:xfrm flipH="1">
            <a:off x="162175" y="130921"/>
            <a:ext cx="8923751" cy="4904928"/>
            <a:chOff x="162175" y="130921"/>
            <a:chExt cx="8923751" cy="4904928"/>
          </a:xfrm>
        </p:grpSpPr>
        <p:pic>
          <p:nvPicPr>
            <p:cNvPr id="135" name="Google Shape;135;p14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162175" y="4604011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4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8485500" y="4409925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4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7492850" y="130921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14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199375" y="28163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subTitle" idx="1"/>
          </p:nvPr>
        </p:nvSpPr>
        <p:spPr>
          <a:xfrm>
            <a:off x="719950" y="2649815"/>
            <a:ext cx="24126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subTitle" idx="2"/>
          </p:nvPr>
        </p:nvSpPr>
        <p:spPr>
          <a:xfrm>
            <a:off x="3365675" y="2649815"/>
            <a:ext cx="24126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ubTitle" idx="3"/>
          </p:nvPr>
        </p:nvSpPr>
        <p:spPr>
          <a:xfrm>
            <a:off x="6011400" y="2649815"/>
            <a:ext cx="24126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subTitle" idx="4"/>
          </p:nvPr>
        </p:nvSpPr>
        <p:spPr>
          <a:xfrm>
            <a:off x="719950" y="2254506"/>
            <a:ext cx="2412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subTitle" idx="5"/>
          </p:nvPr>
        </p:nvSpPr>
        <p:spPr>
          <a:xfrm>
            <a:off x="3365675" y="2254506"/>
            <a:ext cx="2412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subTitle" idx="6"/>
          </p:nvPr>
        </p:nvSpPr>
        <p:spPr>
          <a:xfrm>
            <a:off x="6011401" y="2254506"/>
            <a:ext cx="2412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18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pic>
        <p:nvPicPr>
          <p:cNvPr id="146" name="Google Shape;146;p14"/>
          <p:cNvPicPr preferRelativeResize="0"/>
          <p:nvPr/>
        </p:nvPicPr>
        <p:blipFill rotWithShape="1">
          <a:blip r:embed="rId4">
            <a:alphaModFix/>
          </a:blip>
          <a:srcRect t="25155" b="40869"/>
          <a:stretch/>
        </p:blipFill>
        <p:spPr>
          <a:xfrm rot="3047689">
            <a:off x="-1380860" y="-535940"/>
            <a:ext cx="2893218" cy="1747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21"/>
          <p:cNvGrpSpPr/>
          <p:nvPr/>
        </p:nvGrpSpPr>
        <p:grpSpPr>
          <a:xfrm>
            <a:off x="0" y="205947"/>
            <a:ext cx="8986101" cy="3961627"/>
            <a:chOff x="0" y="205947"/>
            <a:chExt cx="8986101" cy="3961627"/>
          </a:xfrm>
        </p:grpSpPr>
        <p:pic>
          <p:nvPicPr>
            <p:cNvPr id="236" name="Google Shape;236;p21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0" y="3377975"/>
              <a:ext cx="770175" cy="789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1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8385675" y="1333925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1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8762300" y="3658052"/>
              <a:ext cx="223800" cy="229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1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280775" y="2756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1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358475" y="2699725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1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5585175" y="205947"/>
              <a:ext cx="549601" cy="56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1"/>
          <p:cNvGrpSpPr/>
          <p:nvPr/>
        </p:nvGrpSpPr>
        <p:grpSpPr>
          <a:xfrm flipH="1">
            <a:off x="816373" y="-1623800"/>
            <a:ext cx="9354202" cy="7042475"/>
            <a:chOff x="-1533127" y="-1623800"/>
            <a:chExt cx="9354202" cy="7042475"/>
          </a:xfrm>
        </p:grpSpPr>
        <p:pic>
          <p:nvPicPr>
            <p:cNvPr id="243" name="Google Shape;243;p21"/>
            <p:cNvPicPr preferRelativeResize="0"/>
            <p:nvPr/>
          </p:nvPicPr>
          <p:blipFill rotWithShape="1">
            <a:blip r:embed="rId4">
              <a:alphaModFix/>
            </a:blip>
            <a:srcRect t="25155" b="40869"/>
            <a:stretch/>
          </p:blipFill>
          <p:spPr>
            <a:xfrm rot="3047689">
              <a:off x="-1388235" y="-824315"/>
              <a:ext cx="2893218" cy="1747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1"/>
            <p:cNvPicPr preferRelativeResize="0"/>
            <p:nvPr/>
          </p:nvPicPr>
          <p:blipFill rotWithShape="1">
            <a:blip r:embed="rId4">
              <a:alphaModFix/>
            </a:blip>
            <a:srcRect l="22179" r="45855"/>
            <a:stretch/>
          </p:blipFill>
          <p:spPr>
            <a:xfrm rot="5399990">
              <a:off x="4786913" y="2384513"/>
              <a:ext cx="924826" cy="5143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2"/>
          <p:cNvGrpSpPr/>
          <p:nvPr/>
        </p:nvGrpSpPr>
        <p:grpSpPr>
          <a:xfrm>
            <a:off x="102000" y="179975"/>
            <a:ext cx="8835576" cy="4853375"/>
            <a:chOff x="102000" y="179975"/>
            <a:chExt cx="8835576" cy="4853375"/>
          </a:xfrm>
        </p:grpSpPr>
        <p:pic>
          <p:nvPicPr>
            <p:cNvPr id="247" name="Google Shape;247;p22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178275" y="4035025"/>
              <a:ext cx="973750" cy="998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2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102000" y="1860950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2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8337150" y="963600"/>
              <a:ext cx="600426" cy="615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2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6263050" y="1799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1" name="Google Shape;251;p22"/>
          <p:cNvPicPr preferRelativeResize="0"/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3588281"/>
            <a:ext cx="9144000" cy="243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6" r:id="rId5"/>
    <p:sldLayoutId id="2147483658" r:id="rId6"/>
    <p:sldLayoutId id="2147483660" r:id="rId7"/>
    <p:sldLayoutId id="2147483667" r:id="rId8"/>
    <p:sldLayoutId id="214748366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>
            <a:spLocks noGrp="1"/>
          </p:cNvSpPr>
          <p:nvPr>
            <p:ph type="ctrTitle"/>
          </p:nvPr>
        </p:nvSpPr>
        <p:spPr>
          <a:xfrm>
            <a:off x="926100" y="1409700"/>
            <a:ext cx="7291800" cy="14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>
                <a:latin typeface="Syne" panose="020B0604020202020204" charset="0"/>
              </a:rPr>
              <a:t>From Stories to Strategies:</a:t>
            </a:r>
            <a:endParaRPr sz="3200" dirty="0">
              <a:latin typeface="Syne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dk2"/>
                </a:solidFill>
                <a:latin typeface="Syne" panose="020B0604020202020204" charset="0"/>
              </a:rPr>
              <a:t>Uncovering Entrepreneurial Success Factors Through Podcast Transcript Analysis</a:t>
            </a:r>
            <a:endParaRPr sz="1800" dirty="0">
              <a:solidFill>
                <a:schemeClr val="dk2"/>
              </a:solidFill>
              <a:latin typeface="Syne" panose="020B0604020202020204" charset="0"/>
            </a:endParaRPr>
          </a:p>
        </p:txBody>
      </p:sp>
      <p:sp>
        <p:nvSpPr>
          <p:cNvPr id="269" name="Google Shape;269;p29"/>
          <p:cNvSpPr txBox="1">
            <a:spLocks noGrp="1"/>
          </p:cNvSpPr>
          <p:nvPr>
            <p:ph type="subTitle" idx="1"/>
          </p:nvPr>
        </p:nvSpPr>
        <p:spPr>
          <a:xfrm>
            <a:off x="926100" y="3135500"/>
            <a:ext cx="72918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Akinyi Wendy</a:t>
            </a:r>
            <a:endParaRPr dirty="0"/>
          </a:p>
        </p:txBody>
      </p:sp>
      <p:cxnSp>
        <p:nvCxnSpPr>
          <p:cNvPr id="270" name="Google Shape;270;p29"/>
          <p:cNvCxnSpPr/>
          <p:nvPr/>
        </p:nvCxnSpPr>
        <p:spPr>
          <a:xfrm>
            <a:off x="2346613" y="2983450"/>
            <a:ext cx="4451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271" name="Google Shape;271;p29"/>
          <p:cNvGrpSpPr/>
          <p:nvPr/>
        </p:nvGrpSpPr>
        <p:grpSpPr>
          <a:xfrm>
            <a:off x="4298654" y="606578"/>
            <a:ext cx="546693" cy="411620"/>
            <a:chOff x="4101050" y="310138"/>
            <a:chExt cx="941925" cy="709200"/>
          </a:xfrm>
        </p:grpSpPr>
        <p:cxnSp>
          <p:nvCxnSpPr>
            <p:cNvPr id="272" name="Google Shape;272;p29"/>
            <p:cNvCxnSpPr/>
            <p:nvPr/>
          </p:nvCxnSpPr>
          <p:spPr>
            <a:xfrm>
              <a:off x="4101050" y="548338"/>
              <a:ext cx="0" cy="2328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3" name="Google Shape;273;p29"/>
            <p:cNvCxnSpPr/>
            <p:nvPr/>
          </p:nvCxnSpPr>
          <p:spPr>
            <a:xfrm>
              <a:off x="4258038" y="463738"/>
              <a:ext cx="0" cy="4020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29"/>
            <p:cNvCxnSpPr/>
            <p:nvPr/>
          </p:nvCxnSpPr>
          <p:spPr>
            <a:xfrm>
              <a:off x="4415025" y="400138"/>
              <a:ext cx="0" cy="5292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29"/>
            <p:cNvCxnSpPr/>
            <p:nvPr/>
          </p:nvCxnSpPr>
          <p:spPr>
            <a:xfrm>
              <a:off x="4572013" y="310138"/>
              <a:ext cx="0" cy="7092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" name="Google Shape;276;p29"/>
            <p:cNvCxnSpPr/>
            <p:nvPr/>
          </p:nvCxnSpPr>
          <p:spPr>
            <a:xfrm>
              <a:off x="5042975" y="548338"/>
              <a:ext cx="0" cy="2328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" name="Google Shape;277;p29"/>
            <p:cNvCxnSpPr/>
            <p:nvPr/>
          </p:nvCxnSpPr>
          <p:spPr>
            <a:xfrm>
              <a:off x="4885988" y="463738"/>
              <a:ext cx="0" cy="4020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4729000" y="400138"/>
              <a:ext cx="0" cy="5292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29"/>
            <p:cNvCxnSpPr/>
            <p:nvPr/>
          </p:nvCxnSpPr>
          <p:spPr>
            <a:xfrm>
              <a:off x="4179544" y="489088"/>
              <a:ext cx="0" cy="3513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Google Shape;280;p29"/>
            <p:cNvCxnSpPr/>
            <p:nvPr/>
          </p:nvCxnSpPr>
          <p:spPr>
            <a:xfrm>
              <a:off x="4336531" y="458338"/>
              <a:ext cx="0" cy="4128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81;p29"/>
            <p:cNvCxnSpPr/>
            <p:nvPr/>
          </p:nvCxnSpPr>
          <p:spPr>
            <a:xfrm>
              <a:off x="4493519" y="368038"/>
              <a:ext cx="0" cy="5934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29"/>
            <p:cNvCxnSpPr/>
            <p:nvPr/>
          </p:nvCxnSpPr>
          <p:spPr>
            <a:xfrm>
              <a:off x="4650506" y="368038"/>
              <a:ext cx="0" cy="5934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3" name="Google Shape;283;p29"/>
            <p:cNvCxnSpPr/>
            <p:nvPr/>
          </p:nvCxnSpPr>
          <p:spPr>
            <a:xfrm>
              <a:off x="4807494" y="400138"/>
              <a:ext cx="0" cy="5292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" name="Google Shape;284;p29"/>
            <p:cNvCxnSpPr/>
            <p:nvPr/>
          </p:nvCxnSpPr>
          <p:spPr>
            <a:xfrm>
              <a:off x="4964481" y="489088"/>
              <a:ext cx="0" cy="3513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85" name="Google Shape;285;p29"/>
          <p:cNvPicPr preferRelativeResize="0"/>
          <p:nvPr/>
        </p:nvPicPr>
        <p:blipFill rotWithShape="1">
          <a:blip r:embed="rId3">
            <a:alphaModFix/>
          </a:blip>
          <a:srcRect l="14302" t="13395" r="14294" b="13403"/>
          <a:stretch/>
        </p:blipFill>
        <p:spPr>
          <a:xfrm>
            <a:off x="7495625" y="676708"/>
            <a:ext cx="257326" cy="263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title"/>
          </p:nvPr>
        </p:nvSpPr>
        <p:spPr>
          <a:xfrm>
            <a:off x="4364000" y="771925"/>
            <a:ext cx="3781500" cy="10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Syne" panose="020B0604020202020204" charset="0"/>
              </a:rPr>
              <a:t>Problem Definition</a:t>
            </a:r>
            <a:endParaRPr dirty="0">
              <a:latin typeface="Syne" panose="020B0604020202020204" charset="0"/>
            </a:endParaRPr>
          </a:p>
        </p:txBody>
      </p:sp>
      <p:sp>
        <p:nvSpPr>
          <p:cNvPr id="324" name="Google Shape;324;p32"/>
          <p:cNvSpPr txBox="1">
            <a:spLocks noGrp="1"/>
          </p:cNvSpPr>
          <p:nvPr>
            <p:ph type="subTitle" idx="1"/>
          </p:nvPr>
        </p:nvSpPr>
        <p:spPr>
          <a:xfrm>
            <a:off x="4364000" y="1866025"/>
            <a:ext cx="4595362" cy="24843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just"/>
            <a:r>
              <a:rPr lang="en-US" sz="1100" dirty="0"/>
              <a:t>Entrepreneurial success is often attributed to a combination of effectual and causal logic, human capital, and industry-specific strategies. </a:t>
            </a:r>
            <a:endParaRPr lang="en-US" sz="1100" dirty="0" smtClean="0"/>
          </a:p>
          <a:p>
            <a:pPr marL="171450" indent="-171450" algn="just"/>
            <a:endParaRPr lang="en-US" sz="1100" dirty="0"/>
          </a:p>
          <a:p>
            <a:pPr marL="171450" indent="-171450" algn="just"/>
            <a:r>
              <a:rPr lang="en-US" sz="1100" dirty="0" smtClean="0"/>
              <a:t>However</a:t>
            </a:r>
            <a:r>
              <a:rPr lang="en-US" sz="1100" dirty="0"/>
              <a:t>, existing studies lack depth in understanding the nuances of these factors, particularly across diverse demographics and industries</a:t>
            </a:r>
            <a:r>
              <a:rPr lang="en-US" sz="1100" dirty="0" smtClean="0"/>
              <a:t>.</a:t>
            </a:r>
          </a:p>
          <a:p>
            <a:pPr marL="171450" indent="-171450" algn="just"/>
            <a:endParaRPr lang="en-US" sz="1100" dirty="0" smtClean="0"/>
          </a:p>
          <a:p>
            <a:pPr marL="171450" indent="-171450" algn="just"/>
            <a:r>
              <a:rPr lang="en-US" sz="1100" dirty="0" smtClean="0"/>
              <a:t>This </a:t>
            </a:r>
            <a:r>
              <a:rPr lang="en-US" sz="1100" dirty="0"/>
              <a:t>project aims to address this gap by analyzing podcast transcripts of successful entrepreneurs to identify </a:t>
            </a:r>
            <a:r>
              <a:rPr lang="en-US" sz="1100" dirty="0" smtClean="0"/>
              <a:t>patterns and success factors in </a:t>
            </a:r>
            <a:r>
              <a:rPr lang="en-US" sz="1100" dirty="0"/>
              <a:t>their </a:t>
            </a:r>
            <a:r>
              <a:rPr lang="en-US" sz="1100" dirty="0" smtClean="0"/>
              <a:t>journeys</a:t>
            </a:r>
            <a:r>
              <a:rPr lang="en-US" sz="1100" dirty="0" smtClean="0"/>
              <a:t>.</a:t>
            </a:r>
          </a:p>
          <a:p>
            <a:pPr marL="171450" indent="-171450" algn="just"/>
            <a:endParaRPr lang="en-US" sz="1100" dirty="0" smtClean="0"/>
          </a:p>
          <a:p>
            <a:pPr marL="171450" indent="-171450" algn="just"/>
            <a:r>
              <a:rPr lang="en-US" sz="1100" dirty="0" smtClean="0"/>
              <a:t>To </a:t>
            </a:r>
            <a:r>
              <a:rPr lang="en-US" sz="1100" dirty="0"/>
              <a:t>help startups refine strategies based on key entrepreneurial behaviors.</a:t>
            </a:r>
          </a:p>
          <a:p>
            <a:pPr marL="171450" indent="-171450" algn="just"/>
            <a:endParaRPr sz="1100" dirty="0"/>
          </a:p>
        </p:txBody>
      </p:sp>
      <p:pic>
        <p:nvPicPr>
          <p:cNvPr id="325" name="Google Shape;325;p3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6" r="9206"/>
          <a:stretch/>
        </p:blipFill>
        <p:spPr>
          <a:xfrm>
            <a:off x="269967" y="1414586"/>
            <a:ext cx="4005048" cy="2749740"/>
          </a:xfrm>
          <a:prstGeom prst="roundRect">
            <a:avLst>
              <a:gd name="adj" fmla="val 16667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Syne" panose="020B0604020202020204" charset="0"/>
              </a:rPr>
              <a:t>Dataset</a:t>
            </a:r>
            <a:endParaRPr lang="en-US" dirty="0">
              <a:latin typeface="Syne" panose="020B0604020202020204" charset="0"/>
            </a:endParaRP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9" r="14889"/>
          <a:stretch/>
        </p:blipFill>
        <p:spPr>
          <a:xfrm>
            <a:off x="452846" y="1306286"/>
            <a:ext cx="3735977" cy="2734491"/>
          </a:xfrm>
        </p:spPr>
      </p:pic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64000" y="1866025"/>
            <a:ext cx="47800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buNone/>
            </a:pPr>
            <a:r>
              <a:rPr lang="en-US" altLang="en-US" sz="1100" dirty="0">
                <a:latin typeface="Hanken Grotesk" panose="020B0604020202020204" charset="0"/>
              </a:rPr>
              <a:t>"How I Built This" Podcast Transcripts </a:t>
            </a:r>
          </a:p>
          <a:p>
            <a:pPr marL="171450" indent="-171450" algn="just" eaLnBrk="0" fontAlgn="base" hangingPunct="0"/>
            <a:r>
              <a:rPr lang="en-US" altLang="en-US" sz="1100" dirty="0">
                <a:latin typeface="Hanken Grotesk" panose="020B0604020202020204" charset="0"/>
              </a:rPr>
              <a:t>Source: NPR API and web scraping </a:t>
            </a:r>
          </a:p>
          <a:p>
            <a:pPr marL="171450" indent="-171450" algn="just" eaLnBrk="0" fontAlgn="base" hangingPunct="0"/>
            <a:r>
              <a:rPr lang="en-US" altLang="en-US" sz="1100" dirty="0" smtClean="0">
                <a:latin typeface="Hanken Grotesk" panose="020B0604020202020204" charset="0"/>
              </a:rPr>
              <a:t>Features</a:t>
            </a:r>
            <a:r>
              <a:rPr lang="en-US" altLang="en-US" sz="1100" dirty="0">
                <a:latin typeface="Hanken Grotesk" panose="020B0604020202020204" charset="0"/>
              </a:rPr>
              <a:t>: Founder stories, business strategies, challenges, solutions </a:t>
            </a:r>
          </a:p>
          <a:p>
            <a:pPr marL="171450" indent="-171450" algn="just" eaLnBrk="0" fontAlgn="base" hangingPunct="0"/>
            <a:r>
              <a:rPr lang="en-US" altLang="en-US" sz="1100" dirty="0">
                <a:latin typeface="Hanken Grotesk" panose="020B0604020202020204" charset="0"/>
              </a:rPr>
              <a:t>Collection Method: Custom Python scraper using </a:t>
            </a:r>
            <a:r>
              <a:rPr lang="en-US" altLang="en-US" sz="1100" dirty="0" smtClean="0">
                <a:latin typeface="Hanken Grotesk" panose="020B0604020202020204" charset="0"/>
              </a:rPr>
              <a:t>Selenium.</a:t>
            </a:r>
            <a:endParaRPr lang="en-US" altLang="en-US" sz="1100" dirty="0">
              <a:latin typeface="Hanken Grotesk" panose="020B0604020202020204" charset="0"/>
            </a:endParaRPr>
          </a:p>
          <a:p>
            <a:pPr marL="0" lvl="0" indent="0" algn="just" defTabSz="914400" eaLnBrk="0" fontAlgn="base" latinLnBrk="0" hangingPunct="0">
              <a:buNone/>
              <a:tabLst/>
            </a:pPr>
            <a:endParaRPr lang="en-US" altLang="en-US" sz="1100" dirty="0" smtClean="0">
              <a:latin typeface="Hanken Grotesk" panose="020B0604020202020204" charset="0"/>
            </a:endParaRPr>
          </a:p>
          <a:p>
            <a:pPr marL="0" lvl="0" indent="0" algn="just" defTabSz="914400" eaLnBrk="0" fontAlgn="base" latinLnBrk="0" hangingPunct="0">
              <a:buNone/>
              <a:tabLst/>
            </a:pPr>
            <a:r>
              <a:rPr lang="en-US" altLang="en-US" sz="1100" dirty="0" smtClean="0">
                <a:latin typeface="Hanken Grotesk" panose="020B0604020202020204" charset="0"/>
              </a:rPr>
              <a:t>Number of episodes = 738 </a:t>
            </a:r>
            <a:endParaRPr lang="en-US" altLang="en-US" sz="1100" dirty="0">
              <a:latin typeface="Hanken Grotesk" panose="020B0604020202020204" charset="0"/>
            </a:endParaRPr>
          </a:p>
          <a:p>
            <a:pPr marL="171450" indent="-171450" algn="just" eaLnBrk="0" fontAlgn="base" hangingPunct="0"/>
            <a:r>
              <a:rPr lang="en-US" altLang="en-US" sz="1100" dirty="0" smtClean="0">
                <a:latin typeface="Hanken Grotesk" panose="020B0604020202020204" charset="0"/>
              </a:rPr>
              <a:t>Columns:  Episode ID, Episode Name, Transcript Text</a:t>
            </a:r>
          </a:p>
          <a:p>
            <a:pPr marL="171450" indent="-171450" algn="just" eaLnBrk="0" fontAlgn="base" hangingPunct="0"/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anken Grotesk" panose="020B0604020202020204" charset="0"/>
              </a:rPr>
              <a:t>Data Cleaning: Tokenization,</a:t>
            </a:r>
            <a:r>
              <a:rPr kumimoji="0" lang="en-US" altLang="en-US" sz="1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anken Grotesk" panose="020B0604020202020204" charset="0"/>
              </a:rPr>
              <a:t> </a:t>
            </a:r>
            <a:r>
              <a:rPr kumimoji="0" lang="en-US" altLang="en-US" sz="11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Hanken Grotesk" panose="020B0604020202020204" charset="0"/>
              </a:rPr>
              <a:t>NaN</a:t>
            </a:r>
            <a:r>
              <a:rPr kumimoji="0" lang="en-US" altLang="en-US" sz="1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anken Grotesk" panose="020B0604020202020204" charset="0"/>
              </a:rPr>
              <a:t>(5), 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anken Grotesk" panose="020B0604020202020204" charset="0"/>
              </a:rPr>
              <a:t>Ads and timestamp removal, Lemmatization, lowercase, stop word removal using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Hanken Grotesk" panose="020B0604020202020204" charset="0"/>
              </a:rPr>
              <a:t>nlp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anken Grotesk" panose="020B0604020202020204" charset="0"/>
              </a:rPr>
              <a:t> spacy and re(regular</a:t>
            </a:r>
            <a:r>
              <a:rPr kumimoji="0" lang="en-US" altLang="en-US" sz="1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anken Grotesk" panose="020B0604020202020204" charset="0"/>
              </a:rPr>
              <a:t> expression)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anken Grotes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84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Syne" panose="020B0604020202020204" charset="0"/>
              </a:rPr>
              <a:t>Objectives</a:t>
            </a:r>
            <a:endParaRPr dirty="0">
              <a:latin typeface="Syne" panose="020B0604020202020204" charset="0"/>
            </a:endParaRPr>
          </a:p>
        </p:txBody>
      </p:sp>
      <p:sp>
        <p:nvSpPr>
          <p:cNvPr id="386" name="Google Shape;386;p35"/>
          <p:cNvSpPr txBox="1">
            <a:spLocks noGrp="1"/>
          </p:cNvSpPr>
          <p:nvPr>
            <p:ph type="subTitle" idx="4"/>
          </p:nvPr>
        </p:nvSpPr>
        <p:spPr>
          <a:xfrm>
            <a:off x="719950" y="2254506"/>
            <a:ext cx="2412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1.</a:t>
            </a:r>
            <a:endParaRPr sz="3200" dirty="0"/>
          </a:p>
        </p:txBody>
      </p:sp>
      <p:sp>
        <p:nvSpPr>
          <p:cNvPr id="387" name="Google Shape;387;p35"/>
          <p:cNvSpPr txBox="1">
            <a:spLocks noGrp="1"/>
          </p:cNvSpPr>
          <p:nvPr>
            <p:ph type="subTitle" idx="5"/>
          </p:nvPr>
        </p:nvSpPr>
        <p:spPr>
          <a:xfrm>
            <a:off x="3365675" y="2254506"/>
            <a:ext cx="2412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2.</a:t>
            </a:r>
            <a:endParaRPr sz="3200" dirty="0"/>
          </a:p>
        </p:txBody>
      </p:sp>
      <p:sp>
        <p:nvSpPr>
          <p:cNvPr id="388" name="Google Shape;388;p35"/>
          <p:cNvSpPr txBox="1">
            <a:spLocks noGrp="1"/>
          </p:cNvSpPr>
          <p:nvPr>
            <p:ph type="subTitle" idx="1"/>
          </p:nvPr>
        </p:nvSpPr>
        <p:spPr>
          <a:xfrm>
            <a:off x="719950" y="2649815"/>
            <a:ext cx="24126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What common patterns emerge in successful entrepreneurial journeys</a:t>
            </a:r>
            <a:r>
              <a:rPr lang="en-US" dirty="0" smtClean="0"/>
              <a:t>?</a:t>
            </a:r>
          </a:p>
        </p:txBody>
      </p:sp>
      <p:sp>
        <p:nvSpPr>
          <p:cNvPr id="389" name="Google Shape;389;p35"/>
          <p:cNvSpPr txBox="1">
            <a:spLocks noGrp="1"/>
          </p:cNvSpPr>
          <p:nvPr>
            <p:ph type="subTitle" idx="2"/>
          </p:nvPr>
        </p:nvSpPr>
        <p:spPr>
          <a:xfrm>
            <a:off x="3365675" y="2649815"/>
            <a:ext cx="24126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What are the key success factors mentioned across different industries?</a:t>
            </a:r>
            <a:endParaRPr dirty="0"/>
          </a:p>
        </p:txBody>
      </p:sp>
      <p:sp>
        <p:nvSpPr>
          <p:cNvPr id="390" name="Google Shape;390;p35"/>
          <p:cNvSpPr txBox="1">
            <a:spLocks noGrp="1"/>
          </p:cNvSpPr>
          <p:nvPr>
            <p:ph type="subTitle" idx="3"/>
          </p:nvPr>
        </p:nvSpPr>
        <p:spPr>
          <a:xfrm>
            <a:off x="6011400" y="2649815"/>
            <a:ext cx="24126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Can we identify and classify different entrepreneurial strategies?</a:t>
            </a:r>
            <a:endParaRPr dirty="0"/>
          </a:p>
        </p:txBody>
      </p:sp>
      <p:sp>
        <p:nvSpPr>
          <p:cNvPr id="391" name="Google Shape;391;p35"/>
          <p:cNvSpPr txBox="1">
            <a:spLocks noGrp="1"/>
          </p:cNvSpPr>
          <p:nvPr>
            <p:ph type="subTitle" idx="6"/>
          </p:nvPr>
        </p:nvSpPr>
        <p:spPr>
          <a:xfrm>
            <a:off x="6011401" y="2254506"/>
            <a:ext cx="2412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3.</a:t>
            </a:r>
            <a:endParaRPr sz="3200" dirty="0"/>
          </a:p>
        </p:txBody>
      </p:sp>
      <p:cxnSp>
        <p:nvCxnSpPr>
          <p:cNvPr id="392" name="Google Shape;392;p35"/>
          <p:cNvCxnSpPr/>
          <p:nvPr/>
        </p:nvCxnSpPr>
        <p:spPr>
          <a:xfrm>
            <a:off x="813950" y="2235431"/>
            <a:ext cx="55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3" name="Google Shape;393;p35"/>
          <p:cNvCxnSpPr/>
          <p:nvPr/>
        </p:nvCxnSpPr>
        <p:spPr>
          <a:xfrm>
            <a:off x="3460950" y="2235431"/>
            <a:ext cx="55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4" name="Google Shape;394;p35"/>
          <p:cNvCxnSpPr/>
          <p:nvPr/>
        </p:nvCxnSpPr>
        <p:spPr>
          <a:xfrm>
            <a:off x="6107950" y="2235431"/>
            <a:ext cx="55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5" name="Google Shape;395;p35"/>
          <p:cNvGrpSpPr/>
          <p:nvPr/>
        </p:nvGrpSpPr>
        <p:grpSpPr>
          <a:xfrm>
            <a:off x="3460962" y="1720276"/>
            <a:ext cx="420480" cy="421200"/>
            <a:chOff x="4642560" y="3120480"/>
            <a:chExt cx="420480" cy="421200"/>
          </a:xfrm>
        </p:grpSpPr>
        <p:sp>
          <p:nvSpPr>
            <p:cNvPr id="396" name="Google Shape;396;p35"/>
            <p:cNvSpPr/>
            <p:nvPr/>
          </p:nvSpPr>
          <p:spPr>
            <a:xfrm>
              <a:off x="4715640" y="3120480"/>
              <a:ext cx="283680" cy="151200"/>
            </a:xfrm>
            <a:custGeom>
              <a:avLst/>
              <a:gdLst/>
              <a:ahLst/>
              <a:cxnLst/>
              <a:rect l="l" t="t" r="r" b="b"/>
              <a:pathLst>
                <a:path w="788" h="420" extrusionOk="0">
                  <a:moveTo>
                    <a:pt x="14" y="420"/>
                  </a:moveTo>
                  <a:cubicBezTo>
                    <a:pt x="15" y="420"/>
                    <a:pt x="15" y="420"/>
                    <a:pt x="17" y="420"/>
                  </a:cubicBezTo>
                  <a:cubicBezTo>
                    <a:pt x="26" y="420"/>
                    <a:pt x="31" y="414"/>
                    <a:pt x="34" y="405"/>
                  </a:cubicBezTo>
                  <a:cubicBezTo>
                    <a:pt x="74" y="191"/>
                    <a:pt x="262" y="35"/>
                    <a:pt x="480" y="35"/>
                  </a:cubicBezTo>
                  <a:cubicBezTo>
                    <a:pt x="582" y="35"/>
                    <a:pt x="680" y="69"/>
                    <a:pt x="760" y="131"/>
                  </a:cubicBezTo>
                  <a:cubicBezTo>
                    <a:pt x="767" y="137"/>
                    <a:pt x="777" y="136"/>
                    <a:pt x="785" y="128"/>
                  </a:cubicBezTo>
                  <a:cubicBezTo>
                    <a:pt x="790" y="121"/>
                    <a:pt x="789" y="111"/>
                    <a:pt x="782" y="104"/>
                  </a:cubicBezTo>
                  <a:cubicBezTo>
                    <a:pt x="696" y="35"/>
                    <a:pt x="591" y="0"/>
                    <a:pt x="480" y="0"/>
                  </a:cubicBezTo>
                  <a:cubicBezTo>
                    <a:pt x="246" y="0"/>
                    <a:pt x="45" y="168"/>
                    <a:pt x="1" y="398"/>
                  </a:cubicBezTo>
                  <a:cubicBezTo>
                    <a:pt x="-2" y="410"/>
                    <a:pt x="4" y="418"/>
                    <a:pt x="14" y="4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5"/>
            <p:cNvSpPr/>
            <p:nvPr/>
          </p:nvSpPr>
          <p:spPr>
            <a:xfrm>
              <a:off x="4642560" y="3178440"/>
              <a:ext cx="420480" cy="363240"/>
            </a:xfrm>
            <a:custGeom>
              <a:avLst/>
              <a:gdLst/>
              <a:ahLst/>
              <a:cxnLst/>
              <a:rect l="l" t="t" r="r" b="b"/>
              <a:pathLst>
                <a:path w="1168" h="1009" extrusionOk="0">
                  <a:moveTo>
                    <a:pt x="1047" y="5"/>
                  </a:moveTo>
                  <a:cubicBezTo>
                    <a:pt x="1042" y="-2"/>
                    <a:pt x="1030" y="-2"/>
                    <a:pt x="1023" y="4"/>
                  </a:cubicBezTo>
                  <a:cubicBezTo>
                    <a:pt x="1015" y="10"/>
                    <a:pt x="1015" y="21"/>
                    <a:pt x="1021" y="29"/>
                  </a:cubicBezTo>
                  <a:cubicBezTo>
                    <a:pt x="1094" y="112"/>
                    <a:pt x="1135" y="218"/>
                    <a:pt x="1135" y="329"/>
                  </a:cubicBezTo>
                  <a:cubicBezTo>
                    <a:pt x="1135" y="579"/>
                    <a:pt x="931" y="782"/>
                    <a:pt x="682" y="782"/>
                  </a:cubicBezTo>
                  <a:cubicBezTo>
                    <a:pt x="431" y="782"/>
                    <a:pt x="229" y="578"/>
                    <a:pt x="229" y="329"/>
                  </a:cubicBezTo>
                  <a:cubicBezTo>
                    <a:pt x="229" y="320"/>
                    <a:pt x="221" y="311"/>
                    <a:pt x="211" y="311"/>
                  </a:cubicBezTo>
                  <a:cubicBezTo>
                    <a:pt x="202" y="311"/>
                    <a:pt x="194" y="319"/>
                    <a:pt x="194" y="329"/>
                  </a:cubicBezTo>
                  <a:cubicBezTo>
                    <a:pt x="194" y="407"/>
                    <a:pt x="213" y="483"/>
                    <a:pt x="246" y="549"/>
                  </a:cubicBezTo>
                  <a:cubicBezTo>
                    <a:pt x="240" y="556"/>
                    <a:pt x="233" y="564"/>
                    <a:pt x="226" y="571"/>
                  </a:cubicBezTo>
                  <a:cubicBezTo>
                    <a:pt x="213" y="585"/>
                    <a:pt x="199" y="598"/>
                    <a:pt x="191" y="608"/>
                  </a:cubicBezTo>
                  <a:cubicBezTo>
                    <a:pt x="185" y="614"/>
                    <a:pt x="185" y="623"/>
                    <a:pt x="189" y="629"/>
                  </a:cubicBezTo>
                  <a:cubicBezTo>
                    <a:pt x="191" y="630"/>
                    <a:pt x="201" y="646"/>
                    <a:pt x="221" y="671"/>
                  </a:cubicBezTo>
                  <a:cubicBezTo>
                    <a:pt x="165" y="725"/>
                    <a:pt x="55" y="837"/>
                    <a:pt x="4" y="893"/>
                  </a:cubicBezTo>
                  <a:cubicBezTo>
                    <a:pt x="0" y="898"/>
                    <a:pt x="-2" y="906"/>
                    <a:pt x="3" y="913"/>
                  </a:cubicBezTo>
                  <a:cubicBezTo>
                    <a:pt x="4" y="914"/>
                    <a:pt x="26" y="952"/>
                    <a:pt x="95" y="1006"/>
                  </a:cubicBezTo>
                  <a:cubicBezTo>
                    <a:pt x="97" y="1009"/>
                    <a:pt x="102" y="1009"/>
                    <a:pt x="105" y="1009"/>
                  </a:cubicBezTo>
                  <a:cubicBezTo>
                    <a:pt x="109" y="1009"/>
                    <a:pt x="114" y="1008"/>
                    <a:pt x="116" y="1005"/>
                  </a:cubicBezTo>
                  <a:cubicBezTo>
                    <a:pt x="138" y="984"/>
                    <a:pt x="167" y="958"/>
                    <a:pt x="201" y="926"/>
                  </a:cubicBezTo>
                  <a:cubicBezTo>
                    <a:pt x="208" y="919"/>
                    <a:pt x="208" y="909"/>
                    <a:pt x="201" y="901"/>
                  </a:cubicBezTo>
                  <a:cubicBezTo>
                    <a:pt x="194" y="894"/>
                    <a:pt x="183" y="894"/>
                    <a:pt x="176" y="901"/>
                  </a:cubicBezTo>
                  <a:cubicBezTo>
                    <a:pt x="148" y="928"/>
                    <a:pt x="124" y="951"/>
                    <a:pt x="103" y="970"/>
                  </a:cubicBezTo>
                  <a:cubicBezTo>
                    <a:pt x="67" y="941"/>
                    <a:pt x="48" y="917"/>
                    <a:pt x="38" y="906"/>
                  </a:cubicBezTo>
                  <a:cubicBezTo>
                    <a:pt x="90" y="847"/>
                    <a:pt x="189" y="747"/>
                    <a:pt x="242" y="697"/>
                  </a:cubicBezTo>
                  <a:cubicBezTo>
                    <a:pt x="261" y="718"/>
                    <a:pt x="284" y="741"/>
                    <a:pt x="312" y="766"/>
                  </a:cubicBezTo>
                  <a:cubicBezTo>
                    <a:pt x="293" y="786"/>
                    <a:pt x="266" y="812"/>
                    <a:pt x="236" y="843"/>
                  </a:cubicBezTo>
                  <a:cubicBezTo>
                    <a:pt x="229" y="850"/>
                    <a:pt x="229" y="861"/>
                    <a:pt x="236" y="868"/>
                  </a:cubicBezTo>
                  <a:cubicBezTo>
                    <a:pt x="239" y="871"/>
                    <a:pt x="243" y="872"/>
                    <a:pt x="248" y="872"/>
                  </a:cubicBezTo>
                  <a:cubicBezTo>
                    <a:pt x="252" y="872"/>
                    <a:pt x="256" y="871"/>
                    <a:pt x="259" y="868"/>
                  </a:cubicBezTo>
                  <a:cubicBezTo>
                    <a:pt x="291" y="836"/>
                    <a:pt x="317" y="808"/>
                    <a:pt x="336" y="788"/>
                  </a:cubicBezTo>
                  <a:cubicBezTo>
                    <a:pt x="350" y="798"/>
                    <a:pt x="364" y="810"/>
                    <a:pt x="379" y="820"/>
                  </a:cubicBezTo>
                  <a:cubicBezTo>
                    <a:pt x="382" y="821"/>
                    <a:pt x="384" y="823"/>
                    <a:pt x="389" y="823"/>
                  </a:cubicBezTo>
                  <a:cubicBezTo>
                    <a:pt x="393" y="823"/>
                    <a:pt x="398" y="821"/>
                    <a:pt x="401" y="818"/>
                  </a:cubicBezTo>
                  <a:cubicBezTo>
                    <a:pt x="412" y="808"/>
                    <a:pt x="425" y="795"/>
                    <a:pt x="438" y="782"/>
                  </a:cubicBezTo>
                  <a:cubicBezTo>
                    <a:pt x="446" y="775"/>
                    <a:pt x="453" y="767"/>
                    <a:pt x="460" y="761"/>
                  </a:cubicBezTo>
                  <a:cubicBezTo>
                    <a:pt x="526" y="795"/>
                    <a:pt x="602" y="814"/>
                    <a:pt x="680" y="814"/>
                  </a:cubicBezTo>
                  <a:cubicBezTo>
                    <a:pt x="948" y="814"/>
                    <a:pt x="1168" y="595"/>
                    <a:pt x="1168" y="326"/>
                  </a:cubicBezTo>
                  <a:cubicBezTo>
                    <a:pt x="1170" y="209"/>
                    <a:pt x="1126" y="94"/>
                    <a:pt x="1047" y="5"/>
                  </a:cubicBezTo>
                  <a:moveTo>
                    <a:pt x="417" y="759"/>
                  </a:moveTo>
                  <a:cubicBezTo>
                    <a:pt x="408" y="767"/>
                    <a:pt x="398" y="776"/>
                    <a:pt x="389" y="785"/>
                  </a:cubicBezTo>
                  <a:cubicBezTo>
                    <a:pt x="300" y="718"/>
                    <a:pt x="245" y="648"/>
                    <a:pt x="224" y="622"/>
                  </a:cubicBezTo>
                  <a:cubicBezTo>
                    <a:pt x="233" y="613"/>
                    <a:pt x="242" y="603"/>
                    <a:pt x="250" y="594"/>
                  </a:cubicBezTo>
                  <a:cubicBezTo>
                    <a:pt x="255" y="590"/>
                    <a:pt x="259" y="584"/>
                    <a:pt x="264" y="579"/>
                  </a:cubicBezTo>
                  <a:cubicBezTo>
                    <a:pt x="304" y="648"/>
                    <a:pt x="361" y="705"/>
                    <a:pt x="430" y="745"/>
                  </a:cubicBezTo>
                  <a:cubicBezTo>
                    <a:pt x="425" y="750"/>
                    <a:pt x="421" y="754"/>
                    <a:pt x="417" y="7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5"/>
            <p:cNvSpPr/>
            <p:nvPr/>
          </p:nvSpPr>
          <p:spPr>
            <a:xfrm>
              <a:off x="4750200" y="3159000"/>
              <a:ext cx="275760" cy="275760"/>
            </a:xfrm>
            <a:custGeom>
              <a:avLst/>
              <a:gdLst/>
              <a:ahLst/>
              <a:cxnLst/>
              <a:rect l="l" t="t" r="r" b="b"/>
              <a:pathLst>
                <a:path w="766" h="766" extrusionOk="0">
                  <a:moveTo>
                    <a:pt x="479" y="753"/>
                  </a:moveTo>
                  <a:cubicBezTo>
                    <a:pt x="648" y="709"/>
                    <a:pt x="766" y="556"/>
                    <a:pt x="766" y="383"/>
                  </a:cubicBezTo>
                  <a:cubicBezTo>
                    <a:pt x="766" y="172"/>
                    <a:pt x="594" y="0"/>
                    <a:pt x="383" y="0"/>
                  </a:cubicBezTo>
                  <a:cubicBezTo>
                    <a:pt x="171" y="0"/>
                    <a:pt x="0" y="172"/>
                    <a:pt x="0" y="383"/>
                  </a:cubicBezTo>
                  <a:cubicBezTo>
                    <a:pt x="0" y="594"/>
                    <a:pt x="171" y="766"/>
                    <a:pt x="383" y="766"/>
                  </a:cubicBezTo>
                  <a:cubicBezTo>
                    <a:pt x="391" y="766"/>
                    <a:pt x="400" y="759"/>
                    <a:pt x="400" y="748"/>
                  </a:cubicBezTo>
                  <a:cubicBezTo>
                    <a:pt x="400" y="738"/>
                    <a:pt x="393" y="731"/>
                    <a:pt x="383" y="731"/>
                  </a:cubicBezTo>
                  <a:cubicBezTo>
                    <a:pt x="190" y="731"/>
                    <a:pt x="35" y="576"/>
                    <a:pt x="35" y="383"/>
                  </a:cubicBezTo>
                  <a:cubicBezTo>
                    <a:pt x="35" y="191"/>
                    <a:pt x="190" y="35"/>
                    <a:pt x="383" y="35"/>
                  </a:cubicBezTo>
                  <a:cubicBezTo>
                    <a:pt x="575" y="35"/>
                    <a:pt x="731" y="190"/>
                    <a:pt x="731" y="383"/>
                  </a:cubicBezTo>
                  <a:cubicBezTo>
                    <a:pt x="731" y="542"/>
                    <a:pt x="623" y="680"/>
                    <a:pt x="470" y="721"/>
                  </a:cubicBezTo>
                  <a:cubicBezTo>
                    <a:pt x="461" y="724"/>
                    <a:pt x="456" y="732"/>
                    <a:pt x="458" y="741"/>
                  </a:cubicBezTo>
                  <a:cubicBezTo>
                    <a:pt x="460" y="750"/>
                    <a:pt x="470" y="756"/>
                    <a:pt x="479" y="7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5"/>
            <p:cNvSpPr/>
            <p:nvPr/>
          </p:nvSpPr>
          <p:spPr>
            <a:xfrm>
              <a:off x="4812120" y="3242160"/>
              <a:ext cx="76680" cy="109440"/>
            </a:xfrm>
            <a:custGeom>
              <a:avLst/>
              <a:gdLst/>
              <a:ahLst/>
              <a:cxnLst/>
              <a:rect l="l" t="t" r="r" b="b"/>
              <a:pathLst>
                <a:path w="213" h="304" extrusionOk="0">
                  <a:moveTo>
                    <a:pt x="212" y="287"/>
                  </a:moveTo>
                  <a:cubicBezTo>
                    <a:pt x="212" y="280"/>
                    <a:pt x="225" y="91"/>
                    <a:pt x="163" y="25"/>
                  </a:cubicBezTo>
                  <a:cubicBezTo>
                    <a:pt x="147" y="9"/>
                    <a:pt x="128" y="0"/>
                    <a:pt x="107" y="0"/>
                  </a:cubicBezTo>
                  <a:cubicBezTo>
                    <a:pt x="85" y="0"/>
                    <a:pt x="66" y="9"/>
                    <a:pt x="52" y="25"/>
                  </a:cubicBezTo>
                  <a:cubicBezTo>
                    <a:pt x="-11" y="92"/>
                    <a:pt x="2" y="280"/>
                    <a:pt x="2" y="287"/>
                  </a:cubicBezTo>
                  <a:cubicBezTo>
                    <a:pt x="2" y="296"/>
                    <a:pt x="11" y="303"/>
                    <a:pt x="20" y="303"/>
                  </a:cubicBezTo>
                  <a:lnTo>
                    <a:pt x="21" y="303"/>
                  </a:lnTo>
                  <a:cubicBezTo>
                    <a:pt x="30" y="303"/>
                    <a:pt x="37" y="295"/>
                    <a:pt x="37" y="284"/>
                  </a:cubicBezTo>
                  <a:cubicBezTo>
                    <a:pt x="36" y="265"/>
                    <a:pt x="34" y="232"/>
                    <a:pt x="37" y="197"/>
                  </a:cubicBezTo>
                  <a:cubicBezTo>
                    <a:pt x="64" y="195"/>
                    <a:pt x="120" y="195"/>
                    <a:pt x="179" y="197"/>
                  </a:cubicBezTo>
                  <a:cubicBezTo>
                    <a:pt x="180" y="232"/>
                    <a:pt x="180" y="265"/>
                    <a:pt x="179" y="284"/>
                  </a:cubicBezTo>
                  <a:cubicBezTo>
                    <a:pt x="179" y="293"/>
                    <a:pt x="184" y="302"/>
                    <a:pt x="195" y="303"/>
                  </a:cubicBezTo>
                  <a:cubicBezTo>
                    <a:pt x="203" y="305"/>
                    <a:pt x="211" y="297"/>
                    <a:pt x="212" y="287"/>
                  </a:cubicBezTo>
                  <a:moveTo>
                    <a:pt x="39" y="163"/>
                  </a:moveTo>
                  <a:cubicBezTo>
                    <a:pt x="43" y="117"/>
                    <a:pt x="55" y="72"/>
                    <a:pt x="77" y="48"/>
                  </a:cubicBezTo>
                  <a:cubicBezTo>
                    <a:pt x="85" y="38"/>
                    <a:pt x="95" y="34"/>
                    <a:pt x="107" y="34"/>
                  </a:cubicBezTo>
                  <a:cubicBezTo>
                    <a:pt x="118" y="34"/>
                    <a:pt x="129" y="38"/>
                    <a:pt x="138" y="48"/>
                  </a:cubicBezTo>
                  <a:cubicBezTo>
                    <a:pt x="160" y="72"/>
                    <a:pt x="170" y="117"/>
                    <a:pt x="176" y="163"/>
                  </a:cubicBezTo>
                  <a:cubicBezTo>
                    <a:pt x="120" y="162"/>
                    <a:pt x="66" y="163"/>
                    <a:pt x="39" y="1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5"/>
            <p:cNvSpPr/>
            <p:nvPr/>
          </p:nvSpPr>
          <p:spPr>
            <a:xfrm>
              <a:off x="4902480" y="3243240"/>
              <a:ext cx="61560" cy="106920"/>
            </a:xfrm>
            <a:custGeom>
              <a:avLst/>
              <a:gdLst/>
              <a:ahLst/>
              <a:cxnLst/>
              <a:rect l="l" t="t" r="r" b="b"/>
              <a:pathLst>
                <a:path w="171" h="297" extrusionOk="0">
                  <a:moveTo>
                    <a:pt x="153" y="296"/>
                  </a:moveTo>
                  <a:cubicBezTo>
                    <a:pt x="162" y="296"/>
                    <a:pt x="169" y="287"/>
                    <a:pt x="169" y="278"/>
                  </a:cubicBezTo>
                  <a:cubicBezTo>
                    <a:pt x="169" y="270"/>
                    <a:pt x="161" y="262"/>
                    <a:pt x="152" y="262"/>
                  </a:cubicBezTo>
                  <a:cubicBezTo>
                    <a:pt x="135" y="264"/>
                    <a:pt x="119" y="264"/>
                    <a:pt x="101" y="264"/>
                  </a:cubicBezTo>
                  <a:lnTo>
                    <a:pt x="101" y="34"/>
                  </a:lnTo>
                  <a:cubicBezTo>
                    <a:pt x="117" y="34"/>
                    <a:pt x="135" y="34"/>
                    <a:pt x="152" y="35"/>
                  </a:cubicBezTo>
                  <a:lnTo>
                    <a:pt x="153" y="35"/>
                  </a:lnTo>
                  <a:cubicBezTo>
                    <a:pt x="162" y="35"/>
                    <a:pt x="169" y="28"/>
                    <a:pt x="171" y="19"/>
                  </a:cubicBezTo>
                  <a:cubicBezTo>
                    <a:pt x="171" y="10"/>
                    <a:pt x="164" y="2"/>
                    <a:pt x="155" y="2"/>
                  </a:cubicBezTo>
                  <a:cubicBezTo>
                    <a:pt x="86" y="-3"/>
                    <a:pt x="19" y="2"/>
                    <a:pt x="17" y="2"/>
                  </a:cubicBezTo>
                  <a:cubicBezTo>
                    <a:pt x="8" y="2"/>
                    <a:pt x="0" y="10"/>
                    <a:pt x="0" y="19"/>
                  </a:cubicBezTo>
                  <a:cubicBezTo>
                    <a:pt x="0" y="28"/>
                    <a:pt x="9" y="35"/>
                    <a:pt x="18" y="35"/>
                  </a:cubicBezTo>
                  <a:cubicBezTo>
                    <a:pt x="18" y="35"/>
                    <a:pt x="38" y="34"/>
                    <a:pt x="69" y="34"/>
                  </a:cubicBezTo>
                  <a:lnTo>
                    <a:pt x="69" y="264"/>
                  </a:lnTo>
                  <a:cubicBezTo>
                    <a:pt x="40" y="264"/>
                    <a:pt x="19" y="262"/>
                    <a:pt x="18" y="262"/>
                  </a:cubicBezTo>
                  <a:cubicBezTo>
                    <a:pt x="8" y="262"/>
                    <a:pt x="0" y="270"/>
                    <a:pt x="0" y="278"/>
                  </a:cubicBezTo>
                  <a:cubicBezTo>
                    <a:pt x="0" y="287"/>
                    <a:pt x="8" y="296"/>
                    <a:pt x="17" y="296"/>
                  </a:cubicBezTo>
                  <a:cubicBezTo>
                    <a:pt x="18" y="296"/>
                    <a:pt x="49" y="297"/>
                    <a:pt x="89" y="297"/>
                  </a:cubicBezTo>
                  <a:cubicBezTo>
                    <a:pt x="107" y="297"/>
                    <a:pt x="130" y="297"/>
                    <a:pt x="153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5"/>
            <p:cNvSpPr/>
            <p:nvPr/>
          </p:nvSpPr>
          <p:spPr>
            <a:xfrm>
              <a:off x="4867560" y="337392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0" y="17"/>
                  </a:moveTo>
                  <a:cubicBezTo>
                    <a:pt x="0" y="26"/>
                    <a:pt x="7" y="35"/>
                    <a:pt x="17" y="35"/>
                  </a:cubicBezTo>
                  <a:cubicBezTo>
                    <a:pt x="26" y="35"/>
                    <a:pt x="35" y="28"/>
                    <a:pt x="35" y="17"/>
                  </a:cubicBezTo>
                  <a:cubicBezTo>
                    <a:pt x="35" y="7"/>
                    <a:pt x="27" y="0"/>
                    <a:pt x="17" y="0"/>
                  </a:cubicBezTo>
                  <a:cubicBezTo>
                    <a:pt x="6" y="0"/>
                    <a:pt x="0" y="9"/>
                    <a:pt x="0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5"/>
            <p:cNvSpPr/>
            <p:nvPr/>
          </p:nvSpPr>
          <p:spPr>
            <a:xfrm>
              <a:off x="4896000" y="337392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7" y="35"/>
                  </a:moveTo>
                  <a:cubicBezTo>
                    <a:pt x="26" y="35"/>
                    <a:pt x="35" y="28"/>
                    <a:pt x="35" y="17"/>
                  </a:cubicBezTo>
                  <a:cubicBezTo>
                    <a:pt x="35" y="7"/>
                    <a:pt x="27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8"/>
                    <a:pt x="8" y="35"/>
                    <a:pt x="17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4866840" y="321084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9"/>
                    <a:pt x="28" y="0"/>
                    <a:pt x="18" y="0"/>
                  </a:cubicBezTo>
                  <a:cubicBezTo>
                    <a:pt x="9" y="0"/>
                    <a:pt x="0" y="7"/>
                    <a:pt x="0" y="17"/>
                  </a:cubicBezTo>
                  <a:cubicBezTo>
                    <a:pt x="0" y="26"/>
                    <a:pt x="8" y="35"/>
                    <a:pt x="18" y="35"/>
                  </a:cubicBezTo>
                  <a:cubicBezTo>
                    <a:pt x="28" y="35"/>
                    <a:pt x="35" y="28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5"/>
            <p:cNvSpPr/>
            <p:nvPr/>
          </p:nvSpPr>
          <p:spPr>
            <a:xfrm>
              <a:off x="4896000" y="321084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7" y="35"/>
                  </a:moveTo>
                  <a:cubicBezTo>
                    <a:pt x="26" y="35"/>
                    <a:pt x="35" y="28"/>
                    <a:pt x="35" y="17"/>
                  </a:cubicBezTo>
                  <a:cubicBezTo>
                    <a:pt x="35" y="9"/>
                    <a:pt x="27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1" y="28"/>
                    <a:pt x="8" y="35"/>
                    <a:pt x="17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" name="Google Shape;405;p35"/>
          <p:cNvGrpSpPr/>
          <p:nvPr/>
        </p:nvGrpSpPr>
        <p:grpSpPr>
          <a:xfrm>
            <a:off x="813947" y="1720271"/>
            <a:ext cx="345960" cy="421200"/>
            <a:chOff x="4680000" y="3725280"/>
            <a:chExt cx="345960" cy="421200"/>
          </a:xfrm>
        </p:grpSpPr>
        <p:sp>
          <p:nvSpPr>
            <p:cNvPr id="406" name="Google Shape;406;p35"/>
            <p:cNvSpPr/>
            <p:nvPr/>
          </p:nvSpPr>
          <p:spPr>
            <a:xfrm>
              <a:off x="4680000" y="3854880"/>
              <a:ext cx="283320" cy="291600"/>
            </a:xfrm>
            <a:custGeom>
              <a:avLst/>
              <a:gdLst/>
              <a:ahLst/>
              <a:cxnLst/>
              <a:rect l="l" t="t" r="r" b="b"/>
              <a:pathLst>
                <a:path w="787" h="810" extrusionOk="0">
                  <a:moveTo>
                    <a:pt x="770" y="239"/>
                  </a:moveTo>
                  <a:lnTo>
                    <a:pt x="770" y="239"/>
                  </a:lnTo>
                  <a:cubicBezTo>
                    <a:pt x="760" y="239"/>
                    <a:pt x="753" y="246"/>
                    <a:pt x="753" y="256"/>
                  </a:cubicBezTo>
                  <a:cubicBezTo>
                    <a:pt x="753" y="386"/>
                    <a:pt x="748" y="500"/>
                    <a:pt x="744" y="586"/>
                  </a:cubicBezTo>
                  <a:cubicBezTo>
                    <a:pt x="553" y="600"/>
                    <a:pt x="365" y="599"/>
                    <a:pt x="240" y="594"/>
                  </a:cubicBezTo>
                  <a:cubicBezTo>
                    <a:pt x="230" y="594"/>
                    <a:pt x="222" y="602"/>
                    <a:pt x="222" y="610"/>
                  </a:cubicBezTo>
                  <a:cubicBezTo>
                    <a:pt x="222" y="619"/>
                    <a:pt x="230" y="628"/>
                    <a:pt x="238" y="628"/>
                  </a:cubicBezTo>
                  <a:cubicBezTo>
                    <a:pt x="286" y="629"/>
                    <a:pt x="343" y="631"/>
                    <a:pt x="406" y="631"/>
                  </a:cubicBezTo>
                  <a:cubicBezTo>
                    <a:pt x="508" y="631"/>
                    <a:pt x="624" y="628"/>
                    <a:pt x="742" y="619"/>
                  </a:cubicBezTo>
                  <a:cubicBezTo>
                    <a:pt x="739" y="682"/>
                    <a:pt x="735" y="727"/>
                    <a:pt x="734" y="747"/>
                  </a:cubicBezTo>
                  <a:cubicBezTo>
                    <a:pt x="671" y="759"/>
                    <a:pt x="377" y="806"/>
                    <a:pt x="53" y="747"/>
                  </a:cubicBezTo>
                  <a:cubicBezTo>
                    <a:pt x="50" y="704"/>
                    <a:pt x="47" y="661"/>
                    <a:pt x="44" y="619"/>
                  </a:cubicBezTo>
                  <a:cubicBezTo>
                    <a:pt x="65" y="621"/>
                    <a:pt x="103" y="623"/>
                    <a:pt x="151" y="625"/>
                  </a:cubicBezTo>
                  <a:lnTo>
                    <a:pt x="152" y="625"/>
                  </a:lnTo>
                  <a:cubicBezTo>
                    <a:pt x="161" y="625"/>
                    <a:pt x="168" y="618"/>
                    <a:pt x="170" y="609"/>
                  </a:cubicBezTo>
                  <a:cubicBezTo>
                    <a:pt x="170" y="600"/>
                    <a:pt x="162" y="591"/>
                    <a:pt x="154" y="591"/>
                  </a:cubicBezTo>
                  <a:cubicBezTo>
                    <a:pt x="101" y="588"/>
                    <a:pt x="63" y="587"/>
                    <a:pt x="43" y="586"/>
                  </a:cubicBezTo>
                  <a:cubicBezTo>
                    <a:pt x="31" y="363"/>
                    <a:pt x="33" y="160"/>
                    <a:pt x="37" y="17"/>
                  </a:cubicBezTo>
                  <a:cubicBezTo>
                    <a:pt x="37" y="9"/>
                    <a:pt x="30" y="0"/>
                    <a:pt x="21" y="0"/>
                  </a:cubicBezTo>
                  <a:cubicBezTo>
                    <a:pt x="11" y="0"/>
                    <a:pt x="4" y="7"/>
                    <a:pt x="4" y="16"/>
                  </a:cubicBezTo>
                  <a:cubicBezTo>
                    <a:pt x="-1" y="162"/>
                    <a:pt x="-2" y="371"/>
                    <a:pt x="11" y="600"/>
                  </a:cubicBezTo>
                  <a:lnTo>
                    <a:pt x="11" y="602"/>
                  </a:lnTo>
                  <a:cubicBezTo>
                    <a:pt x="14" y="654"/>
                    <a:pt x="17" y="708"/>
                    <a:pt x="21" y="762"/>
                  </a:cubicBezTo>
                  <a:cubicBezTo>
                    <a:pt x="21" y="769"/>
                    <a:pt x="27" y="776"/>
                    <a:pt x="36" y="778"/>
                  </a:cubicBezTo>
                  <a:cubicBezTo>
                    <a:pt x="164" y="801"/>
                    <a:pt x="288" y="810"/>
                    <a:pt x="391" y="810"/>
                  </a:cubicBezTo>
                  <a:cubicBezTo>
                    <a:pt x="447" y="810"/>
                    <a:pt x="495" y="808"/>
                    <a:pt x="537" y="806"/>
                  </a:cubicBezTo>
                  <a:cubicBezTo>
                    <a:pt x="668" y="797"/>
                    <a:pt x="751" y="779"/>
                    <a:pt x="754" y="779"/>
                  </a:cubicBezTo>
                  <a:cubicBezTo>
                    <a:pt x="761" y="778"/>
                    <a:pt x="767" y="772"/>
                    <a:pt x="767" y="765"/>
                  </a:cubicBezTo>
                  <a:cubicBezTo>
                    <a:pt x="767" y="763"/>
                    <a:pt x="773" y="704"/>
                    <a:pt x="777" y="605"/>
                  </a:cubicBezTo>
                  <a:cubicBezTo>
                    <a:pt x="777" y="603"/>
                    <a:pt x="777" y="603"/>
                    <a:pt x="777" y="602"/>
                  </a:cubicBezTo>
                  <a:cubicBezTo>
                    <a:pt x="782" y="514"/>
                    <a:pt x="786" y="395"/>
                    <a:pt x="787" y="258"/>
                  </a:cubicBezTo>
                  <a:cubicBezTo>
                    <a:pt x="787" y="246"/>
                    <a:pt x="779" y="239"/>
                    <a:pt x="770" y="2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4681800" y="3725280"/>
              <a:ext cx="344160" cy="197280"/>
            </a:xfrm>
            <a:custGeom>
              <a:avLst/>
              <a:gdLst/>
              <a:ahLst/>
              <a:cxnLst/>
              <a:rect l="l" t="t" r="r" b="b"/>
              <a:pathLst>
                <a:path w="956" h="548" extrusionOk="0">
                  <a:moveTo>
                    <a:pt x="946" y="195"/>
                  </a:moveTo>
                  <a:cubicBezTo>
                    <a:pt x="944" y="188"/>
                    <a:pt x="937" y="184"/>
                    <a:pt x="930" y="184"/>
                  </a:cubicBezTo>
                  <a:cubicBezTo>
                    <a:pt x="876" y="182"/>
                    <a:pt x="822" y="181"/>
                    <a:pt x="769" y="181"/>
                  </a:cubicBezTo>
                  <a:cubicBezTo>
                    <a:pt x="766" y="136"/>
                    <a:pt x="764" y="90"/>
                    <a:pt x="761" y="47"/>
                  </a:cubicBezTo>
                  <a:cubicBezTo>
                    <a:pt x="761" y="39"/>
                    <a:pt x="755" y="32"/>
                    <a:pt x="746" y="31"/>
                  </a:cubicBezTo>
                  <a:cubicBezTo>
                    <a:pt x="551" y="-6"/>
                    <a:pt x="366" y="-4"/>
                    <a:pt x="245" y="4"/>
                  </a:cubicBezTo>
                  <a:cubicBezTo>
                    <a:pt x="114" y="13"/>
                    <a:pt x="31" y="31"/>
                    <a:pt x="28" y="31"/>
                  </a:cubicBezTo>
                  <a:cubicBezTo>
                    <a:pt x="21" y="32"/>
                    <a:pt x="15" y="38"/>
                    <a:pt x="15" y="45"/>
                  </a:cubicBezTo>
                  <a:cubicBezTo>
                    <a:pt x="15" y="47"/>
                    <a:pt x="6" y="141"/>
                    <a:pt x="0" y="293"/>
                  </a:cubicBezTo>
                  <a:cubicBezTo>
                    <a:pt x="0" y="302"/>
                    <a:pt x="7" y="310"/>
                    <a:pt x="16" y="310"/>
                  </a:cubicBezTo>
                  <a:lnTo>
                    <a:pt x="16" y="310"/>
                  </a:lnTo>
                  <a:cubicBezTo>
                    <a:pt x="25" y="310"/>
                    <a:pt x="32" y="303"/>
                    <a:pt x="34" y="294"/>
                  </a:cubicBezTo>
                  <a:cubicBezTo>
                    <a:pt x="38" y="176"/>
                    <a:pt x="45" y="92"/>
                    <a:pt x="47" y="61"/>
                  </a:cubicBezTo>
                  <a:cubicBezTo>
                    <a:pt x="109" y="50"/>
                    <a:pt x="404" y="3"/>
                    <a:pt x="727" y="61"/>
                  </a:cubicBezTo>
                  <a:cubicBezTo>
                    <a:pt x="730" y="99"/>
                    <a:pt x="733" y="138"/>
                    <a:pt x="736" y="178"/>
                  </a:cubicBezTo>
                  <a:cubicBezTo>
                    <a:pt x="663" y="178"/>
                    <a:pt x="597" y="178"/>
                    <a:pt x="545" y="178"/>
                  </a:cubicBezTo>
                  <a:cubicBezTo>
                    <a:pt x="536" y="178"/>
                    <a:pt x="528" y="185"/>
                    <a:pt x="528" y="195"/>
                  </a:cubicBezTo>
                  <a:cubicBezTo>
                    <a:pt x="528" y="204"/>
                    <a:pt x="535" y="213"/>
                    <a:pt x="545" y="213"/>
                  </a:cubicBezTo>
                  <a:lnTo>
                    <a:pt x="545" y="213"/>
                  </a:lnTo>
                  <a:cubicBezTo>
                    <a:pt x="638" y="213"/>
                    <a:pt x="777" y="213"/>
                    <a:pt x="917" y="216"/>
                  </a:cubicBezTo>
                  <a:cubicBezTo>
                    <a:pt x="927" y="259"/>
                    <a:pt x="921" y="303"/>
                    <a:pt x="917" y="322"/>
                  </a:cubicBezTo>
                  <a:cubicBezTo>
                    <a:pt x="861" y="323"/>
                    <a:pt x="635" y="328"/>
                    <a:pt x="394" y="325"/>
                  </a:cubicBezTo>
                  <a:cubicBezTo>
                    <a:pt x="388" y="325"/>
                    <a:pt x="382" y="328"/>
                    <a:pt x="379" y="334"/>
                  </a:cubicBezTo>
                  <a:cubicBezTo>
                    <a:pt x="356" y="372"/>
                    <a:pt x="316" y="395"/>
                    <a:pt x="273" y="395"/>
                  </a:cubicBezTo>
                  <a:cubicBezTo>
                    <a:pt x="204" y="395"/>
                    <a:pt x="147" y="340"/>
                    <a:pt x="147" y="270"/>
                  </a:cubicBezTo>
                  <a:cubicBezTo>
                    <a:pt x="147" y="201"/>
                    <a:pt x="203" y="144"/>
                    <a:pt x="273" y="144"/>
                  </a:cubicBezTo>
                  <a:cubicBezTo>
                    <a:pt x="316" y="144"/>
                    <a:pt x="357" y="168"/>
                    <a:pt x="379" y="205"/>
                  </a:cubicBezTo>
                  <a:cubicBezTo>
                    <a:pt x="382" y="211"/>
                    <a:pt x="388" y="214"/>
                    <a:pt x="394" y="214"/>
                  </a:cubicBezTo>
                  <a:lnTo>
                    <a:pt x="394" y="214"/>
                  </a:lnTo>
                  <a:cubicBezTo>
                    <a:pt x="415" y="214"/>
                    <a:pt x="439" y="214"/>
                    <a:pt x="462" y="213"/>
                  </a:cubicBezTo>
                  <a:cubicBezTo>
                    <a:pt x="471" y="213"/>
                    <a:pt x="479" y="205"/>
                    <a:pt x="479" y="195"/>
                  </a:cubicBezTo>
                  <a:cubicBezTo>
                    <a:pt x="479" y="187"/>
                    <a:pt x="472" y="178"/>
                    <a:pt x="462" y="178"/>
                  </a:cubicBezTo>
                  <a:lnTo>
                    <a:pt x="462" y="178"/>
                  </a:lnTo>
                  <a:cubicBezTo>
                    <a:pt x="442" y="178"/>
                    <a:pt x="421" y="178"/>
                    <a:pt x="402" y="178"/>
                  </a:cubicBezTo>
                  <a:cubicBezTo>
                    <a:pt x="373" y="136"/>
                    <a:pt x="324" y="109"/>
                    <a:pt x="271" y="109"/>
                  </a:cubicBezTo>
                  <a:cubicBezTo>
                    <a:pt x="184" y="109"/>
                    <a:pt x="112" y="181"/>
                    <a:pt x="112" y="268"/>
                  </a:cubicBezTo>
                  <a:cubicBezTo>
                    <a:pt x="112" y="356"/>
                    <a:pt x="184" y="427"/>
                    <a:pt x="271" y="427"/>
                  </a:cubicBezTo>
                  <a:cubicBezTo>
                    <a:pt x="324" y="427"/>
                    <a:pt x="373" y="401"/>
                    <a:pt x="402" y="358"/>
                  </a:cubicBezTo>
                  <a:cubicBezTo>
                    <a:pt x="529" y="360"/>
                    <a:pt x="650" y="360"/>
                    <a:pt x="745" y="358"/>
                  </a:cubicBezTo>
                  <a:cubicBezTo>
                    <a:pt x="746" y="415"/>
                    <a:pt x="748" y="472"/>
                    <a:pt x="748" y="530"/>
                  </a:cubicBezTo>
                  <a:cubicBezTo>
                    <a:pt x="748" y="539"/>
                    <a:pt x="755" y="548"/>
                    <a:pt x="765" y="548"/>
                  </a:cubicBezTo>
                  <a:lnTo>
                    <a:pt x="765" y="548"/>
                  </a:lnTo>
                  <a:cubicBezTo>
                    <a:pt x="774" y="548"/>
                    <a:pt x="782" y="541"/>
                    <a:pt x="782" y="530"/>
                  </a:cubicBezTo>
                  <a:cubicBezTo>
                    <a:pt x="782" y="472"/>
                    <a:pt x="781" y="415"/>
                    <a:pt x="780" y="358"/>
                  </a:cubicBezTo>
                  <a:cubicBezTo>
                    <a:pt x="871" y="357"/>
                    <a:pt x="930" y="356"/>
                    <a:pt x="931" y="356"/>
                  </a:cubicBezTo>
                  <a:cubicBezTo>
                    <a:pt x="938" y="356"/>
                    <a:pt x="944" y="351"/>
                    <a:pt x="947" y="344"/>
                  </a:cubicBezTo>
                  <a:cubicBezTo>
                    <a:pt x="947" y="342"/>
                    <a:pt x="969" y="270"/>
                    <a:pt x="946" y="1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4794120" y="3906720"/>
              <a:ext cx="55080" cy="54720"/>
            </a:xfrm>
            <a:custGeom>
              <a:avLst/>
              <a:gdLst/>
              <a:ahLst/>
              <a:cxnLst/>
              <a:rect l="l" t="t" r="r" b="b"/>
              <a:pathLst>
                <a:path w="153" h="152" extrusionOk="0">
                  <a:moveTo>
                    <a:pt x="17" y="149"/>
                  </a:moveTo>
                  <a:cubicBezTo>
                    <a:pt x="38" y="152"/>
                    <a:pt x="58" y="152"/>
                    <a:pt x="76" y="152"/>
                  </a:cubicBezTo>
                  <a:cubicBezTo>
                    <a:pt x="109" y="152"/>
                    <a:pt x="134" y="149"/>
                    <a:pt x="135" y="149"/>
                  </a:cubicBezTo>
                  <a:cubicBezTo>
                    <a:pt x="143" y="147"/>
                    <a:pt x="149" y="141"/>
                    <a:pt x="150" y="134"/>
                  </a:cubicBezTo>
                  <a:cubicBezTo>
                    <a:pt x="150" y="131"/>
                    <a:pt x="157" y="77"/>
                    <a:pt x="150" y="18"/>
                  </a:cubicBezTo>
                  <a:cubicBezTo>
                    <a:pt x="149" y="10"/>
                    <a:pt x="143" y="3"/>
                    <a:pt x="135" y="3"/>
                  </a:cubicBezTo>
                  <a:cubicBezTo>
                    <a:pt x="74" y="-4"/>
                    <a:pt x="20" y="3"/>
                    <a:pt x="19" y="3"/>
                  </a:cubicBezTo>
                  <a:cubicBezTo>
                    <a:pt x="12" y="5"/>
                    <a:pt x="6" y="10"/>
                    <a:pt x="4" y="18"/>
                  </a:cubicBezTo>
                  <a:cubicBezTo>
                    <a:pt x="4" y="21"/>
                    <a:pt x="-3" y="74"/>
                    <a:pt x="4" y="134"/>
                  </a:cubicBezTo>
                  <a:cubicBezTo>
                    <a:pt x="4" y="141"/>
                    <a:pt x="10" y="147"/>
                    <a:pt x="17" y="149"/>
                  </a:cubicBezTo>
                  <a:moveTo>
                    <a:pt x="35" y="35"/>
                  </a:moveTo>
                  <a:cubicBezTo>
                    <a:pt x="51" y="34"/>
                    <a:pt x="83" y="32"/>
                    <a:pt x="116" y="35"/>
                  </a:cubicBezTo>
                  <a:cubicBezTo>
                    <a:pt x="119" y="69"/>
                    <a:pt x="118" y="99"/>
                    <a:pt x="116" y="117"/>
                  </a:cubicBezTo>
                  <a:cubicBezTo>
                    <a:pt x="100" y="118"/>
                    <a:pt x="68" y="120"/>
                    <a:pt x="35" y="117"/>
                  </a:cubicBezTo>
                  <a:cubicBezTo>
                    <a:pt x="32" y="82"/>
                    <a:pt x="33" y="51"/>
                    <a:pt x="35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5"/>
            <p:cNvSpPr/>
            <p:nvPr/>
          </p:nvSpPr>
          <p:spPr>
            <a:xfrm>
              <a:off x="4719240" y="3906720"/>
              <a:ext cx="55080" cy="54720"/>
            </a:xfrm>
            <a:custGeom>
              <a:avLst/>
              <a:gdLst/>
              <a:ahLst/>
              <a:cxnLst/>
              <a:rect l="l" t="t" r="r" b="b"/>
              <a:pathLst>
                <a:path w="153" h="152" extrusionOk="0">
                  <a:moveTo>
                    <a:pt x="17" y="149"/>
                  </a:moveTo>
                  <a:cubicBezTo>
                    <a:pt x="37" y="152"/>
                    <a:pt x="58" y="152"/>
                    <a:pt x="75" y="152"/>
                  </a:cubicBezTo>
                  <a:cubicBezTo>
                    <a:pt x="109" y="152"/>
                    <a:pt x="134" y="149"/>
                    <a:pt x="135" y="149"/>
                  </a:cubicBezTo>
                  <a:cubicBezTo>
                    <a:pt x="142" y="147"/>
                    <a:pt x="148" y="141"/>
                    <a:pt x="150" y="134"/>
                  </a:cubicBezTo>
                  <a:cubicBezTo>
                    <a:pt x="150" y="131"/>
                    <a:pt x="157" y="77"/>
                    <a:pt x="150" y="18"/>
                  </a:cubicBezTo>
                  <a:cubicBezTo>
                    <a:pt x="148" y="10"/>
                    <a:pt x="142" y="3"/>
                    <a:pt x="135" y="3"/>
                  </a:cubicBezTo>
                  <a:cubicBezTo>
                    <a:pt x="74" y="-4"/>
                    <a:pt x="20" y="3"/>
                    <a:pt x="19" y="3"/>
                  </a:cubicBezTo>
                  <a:cubicBezTo>
                    <a:pt x="11" y="5"/>
                    <a:pt x="5" y="10"/>
                    <a:pt x="4" y="18"/>
                  </a:cubicBezTo>
                  <a:cubicBezTo>
                    <a:pt x="4" y="21"/>
                    <a:pt x="-3" y="74"/>
                    <a:pt x="4" y="134"/>
                  </a:cubicBezTo>
                  <a:cubicBezTo>
                    <a:pt x="4" y="141"/>
                    <a:pt x="10" y="147"/>
                    <a:pt x="17" y="149"/>
                  </a:cubicBezTo>
                  <a:moveTo>
                    <a:pt x="36" y="35"/>
                  </a:moveTo>
                  <a:cubicBezTo>
                    <a:pt x="52" y="34"/>
                    <a:pt x="84" y="32"/>
                    <a:pt x="118" y="35"/>
                  </a:cubicBezTo>
                  <a:cubicBezTo>
                    <a:pt x="121" y="69"/>
                    <a:pt x="119" y="99"/>
                    <a:pt x="118" y="117"/>
                  </a:cubicBezTo>
                  <a:cubicBezTo>
                    <a:pt x="102" y="118"/>
                    <a:pt x="70" y="120"/>
                    <a:pt x="36" y="117"/>
                  </a:cubicBezTo>
                  <a:cubicBezTo>
                    <a:pt x="33" y="82"/>
                    <a:pt x="35" y="51"/>
                    <a:pt x="36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5"/>
            <p:cNvSpPr/>
            <p:nvPr/>
          </p:nvSpPr>
          <p:spPr>
            <a:xfrm>
              <a:off x="4869360" y="3906720"/>
              <a:ext cx="54720" cy="54720"/>
            </a:xfrm>
            <a:custGeom>
              <a:avLst/>
              <a:gdLst/>
              <a:ahLst/>
              <a:cxnLst/>
              <a:rect l="l" t="t" r="r" b="b"/>
              <a:pathLst>
                <a:path w="152" h="152" extrusionOk="0">
                  <a:moveTo>
                    <a:pt x="17" y="149"/>
                  </a:moveTo>
                  <a:cubicBezTo>
                    <a:pt x="37" y="152"/>
                    <a:pt x="58" y="152"/>
                    <a:pt x="75" y="152"/>
                  </a:cubicBezTo>
                  <a:cubicBezTo>
                    <a:pt x="109" y="152"/>
                    <a:pt x="133" y="149"/>
                    <a:pt x="135" y="149"/>
                  </a:cubicBezTo>
                  <a:cubicBezTo>
                    <a:pt x="142" y="147"/>
                    <a:pt x="148" y="141"/>
                    <a:pt x="149" y="134"/>
                  </a:cubicBezTo>
                  <a:cubicBezTo>
                    <a:pt x="149" y="131"/>
                    <a:pt x="157" y="77"/>
                    <a:pt x="149" y="18"/>
                  </a:cubicBezTo>
                  <a:cubicBezTo>
                    <a:pt x="148" y="10"/>
                    <a:pt x="142" y="3"/>
                    <a:pt x="135" y="3"/>
                  </a:cubicBezTo>
                  <a:cubicBezTo>
                    <a:pt x="74" y="-4"/>
                    <a:pt x="20" y="3"/>
                    <a:pt x="18" y="3"/>
                  </a:cubicBezTo>
                  <a:cubicBezTo>
                    <a:pt x="11" y="5"/>
                    <a:pt x="5" y="10"/>
                    <a:pt x="4" y="18"/>
                  </a:cubicBezTo>
                  <a:cubicBezTo>
                    <a:pt x="4" y="21"/>
                    <a:pt x="-4" y="74"/>
                    <a:pt x="4" y="134"/>
                  </a:cubicBezTo>
                  <a:cubicBezTo>
                    <a:pt x="2" y="141"/>
                    <a:pt x="8" y="147"/>
                    <a:pt x="17" y="149"/>
                  </a:cubicBezTo>
                  <a:moveTo>
                    <a:pt x="34" y="35"/>
                  </a:moveTo>
                  <a:cubicBezTo>
                    <a:pt x="50" y="34"/>
                    <a:pt x="82" y="32"/>
                    <a:pt x="116" y="35"/>
                  </a:cubicBezTo>
                  <a:cubicBezTo>
                    <a:pt x="119" y="69"/>
                    <a:pt x="117" y="99"/>
                    <a:pt x="116" y="117"/>
                  </a:cubicBezTo>
                  <a:cubicBezTo>
                    <a:pt x="100" y="118"/>
                    <a:pt x="68" y="120"/>
                    <a:pt x="34" y="117"/>
                  </a:cubicBezTo>
                  <a:cubicBezTo>
                    <a:pt x="31" y="82"/>
                    <a:pt x="33" y="51"/>
                    <a:pt x="34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5"/>
            <p:cNvSpPr/>
            <p:nvPr/>
          </p:nvSpPr>
          <p:spPr>
            <a:xfrm>
              <a:off x="4793760" y="3986280"/>
              <a:ext cx="55440" cy="54720"/>
            </a:xfrm>
            <a:custGeom>
              <a:avLst/>
              <a:gdLst/>
              <a:ahLst/>
              <a:cxnLst/>
              <a:rect l="l" t="t" r="r" b="b"/>
              <a:pathLst>
                <a:path w="154" h="152" extrusionOk="0">
                  <a:moveTo>
                    <a:pt x="4" y="135"/>
                  </a:moveTo>
                  <a:cubicBezTo>
                    <a:pt x="5" y="142"/>
                    <a:pt x="11" y="149"/>
                    <a:pt x="18" y="149"/>
                  </a:cubicBezTo>
                  <a:cubicBezTo>
                    <a:pt x="39" y="152"/>
                    <a:pt x="59" y="152"/>
                    <a:pt x="77" y="152"/>
                  </a:cubicBezTo>
                  <a:cubicBezTo>
                    <a:pt x="110" y="152"/>
                    <a:pt x="135" y="149"/>
                    <a:pt x="136" y="149"/>
                  </a:cubicBezTo>
                  <a:cubicBezTo>
                    <a:pt x="144" y="148"/>
                    <a:pt x="150" y="142"/>
                    <a:pt x="151" y="135"/>
                  </a:cubicBezTo>
                  <a:cubicBezTo>
                    <a:pt x="151" y="132"/>
                    <a:pt x="158" y="78"/>
                    <a:pt x="151" y="18"/>
                  </a:cubicBezTo>
                  <a:cubicBezTo>
                    <a:pt x="150" y="11"/>
                    <a:pt x="144" y="3"/>
                    <a:pt x="136" y="3"/>
                  </a:cubicBezTo>
                  <a:cubicBezTo>
                    <a:pt x="75" y="-4"/>
                    <a:pt x="21" y="3"/>
                    <a:pt x="20" y="3"/>
                  </a:cubicBezTo>
                  <a:cubicBezTo>
                    <a:pt x="13" y="5"/>
                    <a:pt x="7" y="11"/>
                    <a:pt x="5" y="18"/>
                  </a:cubicBezTo>
                  <a:cubicBezTo>
                    <a:pt x="4" y="20"/>
                    <a:pt x="-3" y="73"/>
                    <a:pt x="4" y="135"/>
                  </a:cubicBezTo>
                  <a:moveTo>
                    <a:pt x="36" y="36"/>
                  </a:moveTo>
                  <a:cubicBezTo>
                    <a:pt x="52" y="34"/>
                    <a:pt x="84" y="33"/>
                    <a:pt x="117" y="36"/>
                  </a:cubicBezTo>
                  <a:cubicBezTo>
                    <a:pt x="120" y="69"/>
                    <a:pt x="119" y="100"/>
                    <a:pt x="117" y="117"/>
                  </a:cubicBezTo>
                  <a:cubicBezTo>
                    <a:pt x="101" y="119"/>
                    <a:pt x="69" y="120"/>
                    <a:pt x="36" y="117"/>
                  </a:cubicBezTo>
                  <a:cubicBezTo>
                    <a:pt x="33" y="82"/>
                    <a:pt x="34" y="52"/>
                    <a:pt x="36" y="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4718880" y="3986280"/>
              <a:ext cx="55440" cy="54720"/>
            </a:xfrm>
            <a:custGeom>
              <a:avLst/>
              <a:gdLst/>
              <a:ahLst/>
              <a:cxnLst/>
              <a:rect l="l" t="t" r="r" b="b"/>
              <a:pathLst>
                <a:path w="154" h="152" extrusionOk="0">
                  <a:moveTo>
                    <a:pt x="3" y="135"/>
                  </a:moveTo>
                  <a:cubicBezTo>
                    <a:pt x="5" y="142"/>
                    <a:pt x="11" y="149"/>
                    <a:pt x="18" y="149"/>
                  </a:cubicBezTo>
                  <a:cubicBezTo>
                    <a:pt x="38" y="152"/>
                    <a:pt x="59" y="152"/>
                    <a:pt x="76" y="152"/>
                  </a:cubicBezTo>
                  <a:cubicBezTo>
                    <a:pt x="110" y="152"/>
                    <a:pt x="135" y="149"/>
                    <a:pt x="136" y="149"/>
                  </a:cubicBezTo>
                  <a:cubicBezTo>
                    <a:pt x="143" y="148"/>
                    <a:pt x="149" y="142"/>
                    <a:pt x="151" y="135"/>
                  </a:cubicBezTo>
                  <a:cubicBezTo>
                    <a:pt x="151" y="132"/>
                    <a:pt x="158" y="78"/>
                    <a:pt x="151" y="18"/>
                  </a:cubicBezTo>
                  <a:cubicBezTo>
                    <a:pt x="149" y="11"/>
                    <a:pt x="143" y="3"/>
                    <a:pt x="136" y="3"/>
                  </a:cubicBezTo>
                  <a:cubicBezTo>
                    <a:pt x="75" y="-4"/>
                    <a:pt x="21" y="3"/>
                    <a:pt x="20" y="3"/>
                  </a:cubicBezTo>
                  <a:cubicBezTo>
                    <a:pt x="12" y="5"/>
                    <a:pt x="6" y="11"/>
                    <a:pt x="5" y="18"/>
                  </a:cubicBezTo>
                  <a:cubicBezTo>
                    <a:pt x="3" y="20"/>
                    <a:pt x="-4" y="73"/>
                    <a:pt x="3" y="135"/>
                  </a:cubicBezTo>
                  <a:moveTo>
                    <a:pt x="37" y="36"/>
                  </a:moveTo>
                  <a:cubicBezTo>
                    <a:pt x="53" y="34"/>
                    <a:pt x="85" y="33"/>
                    <a:pt x="119" y="36"/>
                  </a:cubicBezTo>
                  <a:cubicBezTo>
                    <a:pt x="122" y="69"/>
                    <a:pt x="120" y="100"/>
                    <a:pt x="119" y="117"/>
                  </a:cubicBezTo>
                  <a:cubicBezTo>
                    <a:pt x="103" y="119"/>
                    <a:pt x="71" y="120"/>
                    <a:pt x="37" y="117"/>
                  </a:cubicBezTo>
                  <a:cubicBezTo>
                    <a:pt x="34" y="82"/>
                    <a:pt x="36" y="52"/>
                    <a:pt x="37" y="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4868280" y="3986280"/>
              <a:ext cx="55800" cy="54720"/>
            </a:xfrm>
            <a:custGeom>
              <a:avLst/>
              <a:gdLst/>
              <a:ahLst/>
              <a:cxnLst/>
              <a:rect l="l" t="t" r="r" b="b"/>
              <a:pathLst>
                <a:path w="155" h="152" extrusionOk="0">
                  <a:moveTo>
                    <a:pt x="5" y="135"/>
                  </a:moveTo>
                  <a:cubicBezTo>
                    <a:pt x="7" y="142"/>
                    <a:pt x="12" y="149"/>
                    <a:pt x="20" y="149"/>
                  </a:cubicBezTo>
                  <a:cubicBezTo>
                    <a:pt x="40" y="152"/>
                    <a:pt x="61" y="152"/>
                    <a:pt x="78" y="152"/>
                  </a:cubicBezTo>
                  <a:cubicBezTo>
                    <a:pt x="112" y="152"/>
                    <a:pt x="136" y="149"/>
                    <a:pt x="138" y="149"/>
                  </a:cubicBezTo>
                  <a:cubicBezTo>
                    <a:pt x="145" y="148"/>
                    <a:pt x="151" y="142"/>
                    <a:pt x="152" y="135"/>
                  </a:cubicBezTo>
                  <a:cubicBezTo>
                    <a:pt x="152" y="132"/>
                    <a:pt x="160" y="78"/>
                    <a:pt x="152" y="18"/>
                  </a:cubicBezTo>
                  <a:cubicBezTo>
                    <a:pt x="151" y="11"/>
                    <a:pt x="145" y="3"/>
                    <a:pt x="138" y="3"/>
                  </a:cubicBezTo>
                  <a:cubicBezTo>
                    <a:pt x="77" y="-4"/>
                    <a:pt x="23" y="3"/>
                    <a:pt x="21" y="3"/>
                  </a:cubicBezTo>
                  <a:cubicBezTo>
                    <a:pt x="14" y="5"/>
                    <a:pt x="8" y="11"/>
                    <a:pt x="7" y="18"/>
                  </a:cubicBezTo>
                  <a:cubicBezTo>
                    <a:pt x="4" y="20"/>
                    <a:pt x="-4" y="73"/>
                    <a:pt x="5" y="135"/>
                  </a:cubicBezTo>
                  <a:moveTo>
                    <a:pt x="37" y="36"/>
                  </a:moveTo>
                  <a:cubicBezTo>
                    <a:pt x="53" y="34"/>
                    <a:pt x="85" y="33"/>
                    <a:pt x="119" y="36"/>
                  </a:cubicBezTo>
                  <a:cubicBezTo>
                    <a:pt x="122" y="69"/>
                    <a:pt x="120" y="100"/>
                    <a:pt x="119" y="117"/>
                  </a:cubicBezTo>
                  <a:cubicBezTo>
                    <a:pt x="103" y="119"/>
                    <a:pt x="71" y="120"/>
                    <a:pt x="37" y="117"/>
                  </a:cubicBezTo>
                  <a:cubicBezTo>
                    <a:pt x="34" y="82"/>
                    <a:pt x="36" y="52"/>
                    <a:pt x="37" y="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4761000" y="3804480"/>
              <a:ext cx="36720" cy="36720"/>
            </a:xfrm>
            <a:custGeom>
              <a:avLst/>
              <a:gdLst/>
              <a:ahLst/>
              <a:cxnLst/>
              <a:rect l="l" t="t" r="r" b="b"/>
              <a:pathLst>
                <a:path w="102" h="102" extrusionOk="0">
                  <a:moveTo>
                    <a:pt x="0" y="51"/>
                  </a:moveTo>
                  <a:cubicBezTo>
                    <a:pt x="0" y="79"/>
                    <a:pt x="23" y="102"/>
                    <a:pt x="51" y="102"/>
                  </a:cubicBezTo>
                  <a:cubicBezTo>
                    <a:pt x="79" y="102"/>
                    <a:pt x="102" y="79"/>
                    <a:pt x="102" y="51"/>
                  </a:cubicBezTo>
                  <a:cubicBezTo>
                    <a:pt x="102" y="23"/>
                    <a:pt x="79" y="0"/>
                    <a:pt x="51" y="0"/>
                  </a:cubicBezTo>
                  <a:cubicBezTo>
                    <a:pt x="23" y="0"/>
                    <a:pt x="0" y="22"/>
                    <a:pt x="0" y="51"/>
                  </a:cubicBezTo>
                  <a:moveTo>
                    <a:pt x="69" y="51"/>
                  </a:moveTo>
                  <a:cubicBezTo>
                    <a:pt x="69" y="60"/>
                    <a:pt x="61" y="69"/>
                    <a:pt x="51" y="69"/>
                  </a:cubicBezTo>
                  <a:cubicBezTo>
                    <a:pt x="41" y="69"/>
                    <a:pt x="34" y="61"/>
                    <a:pt x="34" y="51"/>
                  </a:cubicBezTo>
                  <a:cubicBezTo>
                    <a:pt x="34" y="42"/>
                    <a:pt x="41" y="34"/>
                    <a:pt x="51" y="34"/>
                  </a:cubicBezTo>
                  <a:cubicBezTo>
                    <a:pt x="61" y="34"/>
                    <a:pt x="69" y="41"/>
                    <a:pt x="69" y="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4815000" y="410076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8"/>
                  </a:moveTo>
                  <a:cubicBezTo>
                    <a:pt x="35" y="21"/>
                    <a:pt x="34" y="24"/>
                    <a:pt x="33" y="26"/>
                  </a:cubicBezTo>
                  <a:cubicBezTo>
                    <a:pt x="31" y="29"/>
                    <a:pt x="28" y="32"/>
                    <a:pt x="26" y="33"/>
                  </a:cubicBezTo>
                  <a:cubicBezTo>
                    <a:pt x="23" y="35"/>
                    <a:pt x="21" y="35"/>
                    <a:pt x="18" y="35"/>
                  </a:cubicBezTo>
                  <a:cubicBezTo>
                    <a:pt x="15" y="35"/>
                    <a:pt x="12" y="35"/>
                    <a:pt x="9" y="33"/>
                  </a:cubicBezTo>
                  <a:cubicBezTo>
                    <a:pt x="6" y="32"/>
                    <a:pt x="4" y="29"/>
                    <a:pt x="3" y="26"/>
                  </a:cubicBezTo>
                  <a:cubicBezTo>
                    <a:pt x="1" y="24"/>
                    <a:pt x="0" y="21"/>
                    <a:pt x="0" y="18"/>
                  </a:cubicBezTo>
                  <a:cubicBezTo>
                    <a:pt x="0" y="15"/>
                    <a:pt x="1" y="12"/>
                    <a:pt x="3" y="9"/>
                  </a:cubicBezTo>
                  <a:cubicBezTo>
                    <a:pt x="4" y="6"/>
                    <a:pt x="6" y="5"/>
                    <a:pt x="9" y="3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21" y="0"/>
                    <a:pt x="23" y="2"/>
                    <a:pt x="26" y="3"/>
                  </a:cubicBezTo>
                  <a:cubicBezTo>
                    <a:pt x="28" y="5"/>
                    <a:pt x="31" y="6"/>
                    <a:pt x="33" y="9"/>
                  </a:cubicBezTo>
                  <a:cubicBezTo>
                    <a:pt x="34" y="12"/>
                    <a:pt x="35" y="15"/>
                    <a:pt x="35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4773240" y="41004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0"/>
                    <a:pt x="33" y="23"/>
                    <a:pt x="32" y="26"/>
                  </a:cubicBezTo>
                  <a:cubicBezTo>
                    <a:pt x="30" y="29"/>
                    <a:pt x="29" y="31"/>
                    <a:pt x="26" y="32"/>
                  </a:cubicBezTo>
                  <a:cubicBezTo>
                    <a:pt x="23" y="34"/>
                    <a:pt x="20" y="35"/>
                    <a:pt x="17" y="35"/>
                  </a:cubicBezTo>
                  <a:cubicBezTo>
                    <a:pt x="14" y="35"/>
                    <a:pt x="10" y="34"/>
                    <a:pt x="8" y="32"/>
                  </a:cubicBezTo>
                  <a:cubicBezTo>
                    <a:pt x="5" y="31"/>
                    <a:pt x="4" y="29"/>
                    <a:pt x="2" y="26"/>
                  </a:cubicBezTo>
                  <a:cubicBezTo>
                    <a:pt x="0" y="23"/>
                    <a:pt x="0" y="20"/>
                    <a:pt x="0" y="17"/>
                  </a:cubicBezTo>
                  <a:cubicBezTo>
                    <a:pt x="0" y="14"/>
                    <a:pt x="0" y="11"/>
                    <a:pt x="2" y="8"/>
                  </a:cubicBezTo>
                  <a:cubicBezTo>
                    <a:pt x="4" y="6"/>
                    <a:pt x="5" y="4"/>
                    <a:pt x="8" y="2"/>
                  </a:cubicBezTo>
                  <a:cubicBezTo>
                    <a:pt x="10" y="1"/>
                    <a:pt x="14" y="0"/>
                    <a:pt x="17" y="0"/>
                  </a:cubicBezTo>
                  <a:cubicBezTo>
                    <a:pt x="20" y="0"/>
                    <a:pt x="23" y="1"/>
                    <a:pt x="26" y="2"/>
                  </a:cubicBezTo>
                  <a:cubicBezTo>
                    <a:pt x="29" y="4"/>
                    <a:pt x="31" y="6"/>
                    <a:pt x="32" y="8"/>
                  </a:cubicBezTo>
                  <a:cubicBezTo>
                    <a:pt x="34" y="11"/>
                    <a:pt x="35" y="14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4857120" y="41004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0"/>
                    <a:pt x="33" y="23"/>
                    <a:pt x="32" y="26"/>
                  </a:cubicBezTo>
                  <a:cubicBezTo>
                    <a:pt x="30" y="29"/>
                    <a:pt x="29" y="31"/>
                    <a:pt x="26" y="32"/>
                  </a:cubicBezTo>
                  <a:cubicBezTo>
                    <a:pt x="23" y="34"/>
                    <a:pt x="20" y="35"/>
                    <a:pt x="17" y="35"/>
                  </a:cubicBezTo>
                  <a:cubicBezTo>
                    <a:pt x="14" y="35"/>
                    <a:pt x="10" y="34"/>
                    <a:pt x="8" y="32"/>
                  </a:cubicBezTo>
                  <a:cubicBezTo>
                    <a:pt x="5" y="31"/>
                    <a:pt x="3" y="29"/>
                    <a:pt x="2" y="26"/>
                  </a:cubicBezTo>
                  <a:cubicBezTo>
                    <a:pt x="0" y="23"/>
                    <a:pt x="0" y="20"/>
                    <a:pt x="0" y="17"/>
                  </a:cubicBezTo>
                  <a:cubicBezTo>
                    <a:pt x="0" y="14"/>
                    <a:pt x="1" y="11"/>
                    <a:pt x="2" y="8"/>
                  </a:cubicBezTo>
                  <a:cubicBezTo>
                    <a:pt x="4" y="6"/>
                    <a:pt x="5" y="4"/>
                    <a:pt x="8" y="2"/>
                  </a:cubicBezTo>
                  <a:cubicBezTo>
                    <a:pt x="10" y="1"/>
                    <a:pt x="14" y="0"/>
                    <a:pt x="17" y="0"/>
                  </a:cubicBezTo>
                  <a:cubicBezTo>
                    <a:pt x="20" y="0"/>
                    <a:pt x="23" y="1"/>
                    <a:pt x="26" y="2"/>
                  </a:cubicBezTo>
                  <a:cubicBezTo>
                    <a:pt x="29" y="4"/>
                    <a:pt x="31" y="6"/>
                    <a:pt x="32" y="8"/>
                  </a:cubicBezTo>
                  <a:cubicBezTo>
                    <a:pt x="34" y="11"/>
                    <a:pt x="35" y="14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" name="Google Shape;418;p35"/>
          <p:cNvGrpSpPr/>
          <p:nvPr/>
        </p:nvGrpSpPr>
        <p:grpSpPr>
          <a:xfrm>
            <a:off x="6107962" y="1720098"/>
            <a:ext cx="421200" cy="421560"/>
            <a:chOff x="6298560" y="3724920"/>
            <a:chExt cx="421200" cy="421560"/>
          </a:xfrm>
        </p:grpSpPr>
        <p:sp>
          <p:nvSpPr>
            <p:cNvPr id="419" name="Google Shape;419;p35"/>
            <p:cNvSpPr/>
            <p:nvPr/>
          </p:nvSpPr>
          <p:spPr>
            <a:xfrm>
              <a:off x="6595920" y="4076280"/>
              <a:ext cx="35280" cy="70200"/>
            </a:xfrm>
            <a:custGeom>
              <a:avLst/>
              <a:gdLst/>
              <a:ahLst/>
              <a:cxnLst/>
              <a:rect l="l" t="t" r="r" b="b"/>
              <a:pathLst>
                <a:path w="98" h="195" extrusionOk="0">
                  <a:moveTo>
                    <a:pt x="71" y="3"/>
                  </a:moveTo>
                  <a:cubicBezTo>
                    <a:pt x="49" y="19"/>
                    <a:pt x="29" y="35"/>
                    <a:pt x="7" y="49"/>
                  </a:cubicBezTo>
                  <a:cubicBezTo>
                    <a:pt x="3" y="52"/>
                    <a:pt x="0" y="59"/>
                    <a:pt x="0" y="65"/>
                  </a:cubicBezTo>
                  <a:cubicBezTo>
                    <a:pt x="0" y="65"/>
                    <a:pt x="6" y="124"/>
                    <a:pt x="0" y="176"/>
                  </a:cubicBezTo>
                  <a:cubicBezTo>
                    <a:pt x="-2" y="185"/>
                    <a:pt x="6" y="193"/>
                    <a:pt x="14" y="195"/>
                  </a:cubicBezTo>
                  <a:lnTo>
                    <a:pt x="16" y="195"/>
                  </a:lnTo>
                  <a:cubicBezTo>
                    <a:pt x="25" y="195"/>
                    <a:pt x="32" y="189"/>
                    <a:pt x="33" y="180"/>
                  </a:cubicBezTo>
                  <a:cubicBezTo>
                    <a:pt x="38" y="138"/>
                    <a:pt x="36" y="93"/>
                    <a:pt x="35" y="73"/>
                  </a:cubicBezTo>
                  <a:cubicBezTo>
                    <a:pt x="54" y="59"/>
                    <a:pt x="73" y="45"/>
                    <a:pt x="92" y="30"/>
                  </a:cubicBezTo>
                  <a:cubicBezTo>
                    <a:pt x="99" y="24"/>
                    <a:pt x="100" y="14"/>
                    <a:pt x="94" y="7"/>
                  </a:cubicBezTo>
                  <a:cubicBezTo>
                    <a:pt x="90" y="-2"/>
                    <a:pt x="78" y="-3"/>
                    <a:pt x="71" y="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5200" rIns="90000" bIns="25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6518520" y="3840120"/>
              <a:ext cx="201240" cy="306360"/>
            </a:xfrm>
            <a:custGeom>
              <a:avLst/>
              <a:gdLst/>
              <a:ahLst/>
              <a:cxnLst/>
              <a:rect l="l" t="t" r="r" b="b"/>
              <a:pathLst>
                <a:path w="559" h="851" extrusionOk="0">
                  <a:moveTo>
                    <a:pt x="559" y="19"/>
                  </a:moveTo>
                  <a:cubicBezTo>
                    <a:pt x="559" y="15"/>
                    <a:pt x="557" y="10"/>
                    <a:pt x="554" y="6"/>
                  </a:cubicBezTo>
                  <a:cubicBezTo>
                    <a:pt x="551" y="3"/>
                    <a:pt x="547" y="0"/>
                    <a:pt x="541" y="0"/>
                  </a:cubicBezTo>
                  <a:cubicBezTo>
                    <a:pt x="476" y="0"/>
                    <a:pt x="438" y="22"/>
                    <a:pt x="419" y="74"/>
                  </a:cubicBezTo>
                  <a:cubicBezTo>
                    <a:pt x="391" y="77"/>
                    <a:pt x="369" y="88"/>
                    <a:pt x="352" y="105"/>
                  </a:cubicBezTo>
                  <a:cubicBezTo>
                    <a:pt x="302" y="157"/>
                    <a:pt x="308" y="268"/>
                    <a:pt x="314" y="366"/>
                  </a:cubicBezTo>
                  <a:cubicBezTo>
                    <a:pt x="314" y="369"/>
                    <a:pt x="314" y="372"/>
                    <a:pt x="314" y="375"/>
                  </a:cubicBezTo>
                  <a:cubicBezTo>
                    <a:pt x="296" y="372"/>
                    <a:pt x="279" y="375"/>
                    <a:pt x="259" y="383"/>
                  </a:cubicBezTo>
                  <a:cubicBezTo>
                    <a:pt x="212" y="402"/>
                    <a:pt x="158" y="450"/>
                    <a:pt x="69" y="529"/>
                  </a:cubicBezTo>
                  <a:cubicBezTo>
                    <a:pt x="52" y="545"/>
                    <a:pt x="33" y="561"/>
                    <a:pt x="11" y="580"/>
                  </a:cubicBezTo>
                  <a:cubicBezTo>
                    <a:pt x="8" y="583"/>
                    <a:pt x="5" y="588"/>
                    <a:pt x="5" y="592"/>
                  </a:cubicBezTo>
                  <a:cubicBezTo>
                    <a:pt x="5" y="597"/>
                    <a:pt x="-7" y="705"/>
                    <a:pt x="4" y="835"/>
                  </a:cubicBezTo>
                  <a:cubicBezTo>
                    <a:pt x="4" y="844"/>
                    <a:pt x="12" y="851"/>
                    <a:pt x="21" y="851"/>
                  </a:cubicBezTo>
                  <a:lnTo>
                    <a:pt x="22" y="851"/>
                  </a:lnTo>
                  <a:cubicBezTo>
                    <a:pt x="31" y="851"/>
                    <a:pt x="39" y="842"/>
                    <a:pt x="39" y="832"/>
                  </a:cubicBezTo>
                  <a:cubicBezTo>
                    <a:pt x="30" y="723"/>
                    <a:pt x="37" y="627"/>
                    <a:pt x="39" y="602"/>
                  </a:cubicBezTo>
                  <a:cubicBezTo>
                    <a:pt x="57" y="586"/>
                    <a:pt x="75" y="570"/>
                    <a:pt x="91" y="555"/>
                  </a:cubicBezTo>
                  <a:cubicBezTo>
                    <a:pt x="259" y="408"/>
                    <a:pt x="296" y="379"/>
                    <a:pt x="356" y="439"/>
                  </a:cubicBezTo>
                  <a:cubicBezTo>
                    <a:pt x="333" y="459"/>
                    <a:pt x="279" y="507"/>
                    <a:pt x="219" y="555"/>
                  </a:cubicBezTo>
                  <a:cubicBezTo>
                    <a:pt x="212" y="561"/>
                    <a:pt x="210" y="571"/>
                    <a:pt x="216" y="580"/>
                  </a:cubicBezTo>
                  <a:cubicBezTo>
                    <a:pt x="222" y="587"/>
                    <a:pt x="232" y="589"/>
                    <a:pt x="241" y="583"/>
                  </a:cubicBezTo>
                  <a:cubicBezTo>
                    <a:pt x="323" y="516"/>
                    <a:pt x="393" y="453"/>
                    <a:pt x="393" y="453"/>
                  </a:cubicBezTo>
                  <a:cubicBezTo>
                    <a:pt x="395" y="450"/>
                    <a:pt x="398" y="447"/>
                    <a:pt x="398" y="442"/>
                  </a:cubicBezTo>
                  <a:cubicBezTo>
                    <a:pt x="398" y="438"/>
                    <a:pt x="397" y="433"/>
                    <a:pt x="394" y="430"/>
                  </a:cubicBezTo>
                  <a:cubicBezTo>
                    <a:pt x="388" y="424"/>
                    <a:pt x="382" y="418"/>
                    <a:pt x="378" y="412"/>
                  </a:cubicBezTo>
                  <a:lnTo>
                    <a:pt x="428" y="367"/>
                  </a:lnTo>
                  <a:cubicBezTo>
                    <a:pt x="430" y="364"/>
                    <a:pt x="433" y="360"/>
                    <a:pt x="433" y="354"/>
                  </a:cubicBezTo>
                  <a:cubicBezTo>
                    <a:pt x="433" y="227"/>
                    <a:pt x="433" y="144"/>
                    <a:pt x="448" y="95"/>
                  </a:cubicBezTo>
                  <a:cubicBezTo>
                    <a:pt x="460" y="57"/>
                    <a:pt x="480" y="39"/>
                    <a:pt x="522" y="37"/>
                  </a:cubicBezTo>
                  <a:cubicBezTo>
                    <a:pt x="519" y="92"/>
                    <a:pt x="512" y="261"/>
                    <a:pt x="522" y="440"/>
                  </a:cubicBezTo>
                  <a:cubicBezTo>
                    <a:pt x="505" y="459"/>
                    <a:pt x="439" y="529"/>
                    <a:pt x="347" y="608"/>
                  </a:cubicBezTo>
                  <a:cubicBezTo>
                    <a:pt x="340" y="613"/>
                    <a:pt x="339" y="625"/>
                    <a:pt x="346" y="632"/>
                  </a:cubicBezTo>
                  <a:cubicBezTo>
                    <a:pt x="349" y="637"/>
                    <a:pt x="355" y="638"/>
                    <a:pt x="359" y="638"/>
                  </a:cubicBezTo>
                  <a:cubicBezTo>
                    <a:pt x="363" y="638"/>
                    <a:pt x="366" y="637"/>
                    <a:pt x="371" y="634"/>
                  </a:cubicBezTo>
                  <a:cubicBezTo>
                    <a:pt x="480" y="542"/>
                    <a:pt x="553" y="459"/>
                    <a:pt x="554" y="458"/>
                  </a:cubicBezTo>
                  <a:cubicBezTo>
                    <a:pt x="557" y="455"/>
                    <a:pt x="559" y="450"/>
                    <a:pt x="559" y="444"/>
                  </a:cubicBezTo>
                  <a:cubicBezTo>
                    <a:pt x="546" y="226"/>
                    <a:pt x="559" y="22"/>
                    <a:pt x="559" y="19"/>
                  </a:cubicBezTo>
                  <a:moveTo>
                    <a:pt x="401" y="345"/>
                  </a:moveTo>
                  <a:lnTo>
                    <a:pt x="353" y="389"/>
                  </a:lnTo>
                  <a:lnTo>
                    <a:pt x="352" y="389"/>
                  </a:lnTo>
                  <a:cubicBezTo>
                    <a:pt x="352" y="382"/>
                    <a:pt x="350" y="373"/>
                    <a:pt x="350" y="366"/>
                  </a:cubicBezTo>
                  <a:cubicBezTo>
                    <a:pt x="344" y="275"/>
                    <a:pt x="339" y="173"/>
                    <a:pt x="378" y="131"/>
                  </a:cubicBezTo>
                  <a:cubicBezTo>
                    <a:pt x="387" y="122"/>
                    <a:pt x="397" y="117"/>
                    <a:pt x="410" y="112"/>
                  </a:cubicBezTo>
                  <a:cubicBezTo>
                    <a:pt x="401" y="165"/>
                    <a:pt x="401" y="240"/>
                    <a:pt x="401" y="3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6440760" y="4009320"/>
              <a:ext cx="57600" cy="137160"/>
            </a:xfrm>
            <a:custGeom>
              <a:avLst/>
              <a:gdLst/>
              <a:ahLst/>
              <a:cxnLst/>
              <a:rect l="l" t="t" r="r" b="b"/>
              <a:pathLst>
                <a:path w="160" h="381" extrusionOk="0">
                  <a:moveTo>
                    <a:pt x="150" y="110"/>
                  </a:moveTo>
                  <a:cubicBezTo>
                    <a:pt x="129" y="92"/>
                    <a:pt x="110" y="75"/>
                    <a:pt x="91" y="59"/>
                  </a:cubicBezTo>
                  <a:cubicBezTo>
                    <a:pt x="68" y="39"/>
                    <a:pt x="48" y="20"/>
                    <a:pt x="29" y="4"/>
                  </a:cubicBezTo>
                  <a:cubicBezTo>
                    <a:pt x="21" y="-2"/>
                    <a:pt x="11" y="-2"/>
                    <a:pt x="4" y="5"/>
                  </a:cubicBezTo>
                  <a:cubicBezTo>
                    <a:pt x="-2" y="12"/>
                    <a:pt x="-2" y="23"/>
                    <a:pt x="5" y="30"/>
                  </a:cubicBezTo>
                  <a:cubicBezTo>
                    <a:pt x="24" y="46"/>
                    <a:pt x="45" y="63"/>
                    <a:pt x="68" y="85"/>
                  </a:cubicBezTo>
                  <a:cubicBezTo>
                    <a:pt x="84" y="100"/>
                    <a:pt x="102" y="114"/>
                    <a:pt x="120" y="132"/>
                  </a:cubicBezTo>
                  <a:cubicBezTo>
                    <a:pt x="122" y="158"/>
                    <a:pt x="129" y="253"/>
                    <a:pt x="120" y="362"/>
                  </a:cubicBezTo>
                  <a:cubicBezTo>
                    <a:pt x="120" y="371"/>
                    <a:pt x="126" y="379"/>
                    <a:pt x="137" y="381"/>
                  </a:cubicBezTo>
                  <a:lnTo>
                    <a:pt x="138" y="381"/>
                  </a:lnTo>
                  <a:cubicBezTo>
                    <a:pt x="147" y="381"/>
                    <a:pt x="154" y="374"/>
                    <a:pt x="155" y="365"/>
                  </a:cubicBezTo>
                  <a:cubicBezTo>
                    <a:pt x="166" y="235"/>
                    <a:pt x="154" y="126"/>
                    <a:pt x="154" y="122"/>
                  </a:cubicBezTo>
                  <a:cubicBezTo>
                    <a:pt x="155" y="117"/>
                    <a:pt x="153" y="113"/>
                    <a:pt x="150" y="1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6298560" y="3840840"/>
              <a:ext cx="130680" cy="305640"/>
            </a:xfrm>
            <a:custGeom>
              <a:avLst/>
              <a:gdLst/>
              <a:ahLst/>
              <a:cxnLst/>
              <a:rect l="l" t="t" r="r" b="b"/>
              <a:pathLst>
                <a:path w="363" h="849" extrusionOk="0">
                  <a:moveTo>
                    <a:pt x="357" y="418"/>
                  </a:moveTo>
                  <a:cubicBezTo>
                    <a:pt x="310" y="384"/>
                    <a:pt x="275" y="368"/>
                    <a:pt x="242" y="374"/>
                  </a:cubicBezTo>
                  <a:cubicBezTo>
                    <a:pt x="242" y="371"/>
                    <a:pt x="242" y="368"/>
                    <a:pt x="242" y="364"/>
                  </a:cubicBezTo>
                  <a:cubicBezTo>
                    <a:pt x="247" y="266"/>
                    <a:pt x="255" y="157"/>
                    <a:pt x="205" y="104"/>
                  </a:cubicBezTo>
                  <a:cubicBezTo>
                    <a:pt x="188" y="87"/>
                    <a:pt x="166" y="77"/>
                    <a:pt x="140" y="74"/>
                  </a:cubicBezTo>
                  <a:cubicBezTo>
                    <a:pt x="121" y="21"/>
                    <a:pt x="84" y="0"/>
                    <a:pt x="17" y="0"/>
                  </a:cubicBezTo>
                  <a:cubicBezTo>
                    <a:pt x="13" y="0"/>
                    <a:pt x="8" y="1"/>
                    <a:pt x="4" y="5"/>
                  </a:cubicBezTo>
                  <a:cubicBezTo>
                    <a:pt x="1" y="8"/>
                    <a:pt x="0" y="14"/>
                    <a:pt x="0" y="19"/>
                  </a:cubicBezTo>
                  <a:cubicBezTo>
                    <a:pt x="13" y="222"/>
                    <a:pt x="13" y="222"/>
                    <a:pt x="0" y="444"/>
                  </a:cubicBezTo>
                  <a:cubicBezTo>
                    <a:pt x="0" y="448"/>
                    <a:pt x="1" y="453"/>
                    <a:pt x="4" y="457"/>
                  </a:cubicBezTo>
                  <a:cubicBezTo>
                    <a:pt x="6" y="458"/>
                    <a:pt x="135" y="604"/>
                    <a:pt x="307" y="727"/>
                  </a:cubicBezTo>
                  <a:cubicBezTo>
                    <a:pt x="306" y="747"/>
                    <a:pt x="303" y="792"/>
                    <a:pt x="309" y="834"/>
                  </a:cubicBezTo>
                  <a:cubicBezTo>
                    <a:pt x="310" y="843"/>
                    <a:pt x="317" y="849"/>
                    <a:pt x="326" y="849"/>
                  </a:cubicBezTo>
                  <a:lnTo>
                    <a:pt x="328" y="849"/>
                  </a:lnTo>
                  <a:cubicBezTo>
                    <a:pt x="336" y="847"/>
                    <a:pt x="344" y="839"/>
                    <a:pt x="342" y="830"/>
                  </a:cubicBezTo>
                  <a:cubicBezTo>
                    <a:pt x="336" y="779"/>
                    <a:pt x="342" y="721"/>
                    <a:pt x="342" y="719"/>
                  </a:cubicBezTo>
                  <a:cubicBezTo>
                    <a:pt x="342" y="713"/>
                    <a:pt x="341" y="708"/>
                    <a:pt x="335" y="703"/>
                  </a:cubicBezTo>
                  <a:cubicBezTo>
                    <a:pt x="180" y="594"/>
                    <a:pt x="58" y="466"/>
                    <a:pt x="33" y="438"/>
                  </a:cubicBezTo>
                  <a:cubicBezTo>
                    <a:pt x="46" y="228"/>
                    <a:pt x="46" y="220"/>
                    <a:pt x="35" y="35"/>
                  </a:cubicBezTo>
                  <a:cubicBezTo>
                    <a:pt x="77" y="37"/>
                    <a:pt x="97" y="55"/>
                    <a:pt x="108" y="93"/>
                  </a:cubicBezTo>
                  <a:cubicBezTo>
                    <a:pt x="122" y="142"/>
                    <a:pt x="122" y="225"/>
                    <a:pt x="122" y="352"/>
                  </a:cubicBezTo>
                  <a:cubicBezTo>
                    <a:pt x="122" y="357"/>
                    <a:pt x="124" y="361"/>
                    <a:pt x="128" y="365"/>
                  </a:cubicBezTo>
                  <a:lnTo>
                    <a:pt x="177" y="410"/>
                  </a:lnTo>
                  <a:cubicBezTo>
                    <a:pt x="172" y="415"/>
                    <a:pt x="166" y="421"/>
                    <a:pt x="161" y="428"/>
                  </a:cubicBezTo>
                  <a:cubicBezTo>
                    <a:pt x="159" y="431"/>
                    <a:pt x="157" y="436"/>
                    <a:pt x="157" y="440"/>
                  </a:cubicBezTo>
                  <a:cubicBezTo>
                    <a:pt x="157" y="445"/>
                    <a:pt x="160" y="448"/>
                    <a:pt x="163" y="451"/>
                  </a:cubicBezTo>
                  <a:cubicBezTo>
                    <a:pt x="163" y="451"/>
                    <a:pt x="233" y="514"/>
                    <a:pt x="314" y="581"/>
                  </a:cubicBezTo>
                  <a:cubicBezTo>
                    <a:pt x="317" y="584"/>
                    <a:pt x="322" y="585"/>
                    <a:pt x="325" y="585"/>
                  </a:cubicBezTo>
                  <a:cubicBezTo>
                    <a:pt x="329" y="585"/>
                    <a:pt x="335" y="584"/>
                    <a:pt x="338" y="579"/>
                  </a:cubicBezTo>
                  <a:cubicBezTo>
                    <a:pt x="344" y="572"/>
                    <a:pt x="342" y="562"/>
                    <a:pt x="335" y="555"/>
                  </a:cubicBezTo>
                  <a:cubicBezTo>
                    <a:pt x="275" y="505"/>
                    <a:pt x="221" y="458"/>
                    <a:pt x="198" y="438"/>
                  </a:cubicBezTo>
                  <a:cubicBezTo>
                    <a:pt x="218" y="419"/>
                    <a:pt x="234" y="410"/>
                    <a:pt x="252" y="409"/>
                  </a:cubicBezTo>
                  <a:cubicBezTo>
                    <a:pt x="272" y="409"/>
                    <a:pt x="298" y="421"/>
                    <a:pt x="335" y="447"/>
                  </a:cubicBezTo>
                  <a:cubicBezTo>
                    <a:pt x="342" y="453"/>
                    <a:pt x="354" y="451"/>
                    <a:pt x="358" y="444"/>
                  </a:cubicBezTo>
                  <a:cubicBezTo>
                    <a:pt x="365" y="434"/>
                    <a:pt x="364" y="424"/>
                    <a:pt x="357" y="418"/>
                  </a:cubicBezTo>
                  <a:moveTo>
                    <a:pt x="208" y="362"/>
                  </a:moveTo>
                  <a:cubicBezTo>
                    <a:pt x="208" y="371"/>
                    <a:pt x="207" y="378"/>
                    <a:pt x="207" y="387"/>
                  </a:cubicBezTo>
                  <a:lnTo>
                    <a:pt x="207" y="387"/>
                  </a:lnTo>
                  <a:lnTo>
                    <a:pt x="159" y="343"/>
                  </a:lnTo>
                  <a:cubicBezTo>
                    <a:pt x="159" y="238"/>
                    <a:pt x="159" y="163"/>
                    <a:pt x="148" y="109"/>
                  </a:cubicBezTo>
                  <a:cubicBezTo>
                    <a:pt x="161" y="112"/>
                    <a:pt x="172" y="118"/>
                    <a:pt x="180" y="126"/>
                  </a:cubicBezTo>
                  <a:cubicBezTo>
                    <a:pt x="220" y="170"/>
                    <a:pt x="214" y="272"/>
                    <a:pt x="208" y="36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6462000" y="3794040"/>
              <a:ext cx="94320" cy="95040"/>
            </a:xfrm>
            <a:custGeom>
              <a:avLst/>
              <a:gdLst/>
              <a:ahLst/>
              <a:cxnLst/>
              <a:rect l="l" t="t" r="r" b="b"/>
              <a:pathLst>
                <a:path w="262" h="264" extrusionOk="0">
                  <a:moveTo>
                    <a:pt x="242" y="3"/>
                  </a:moveTo>
                  <a:cubicBezTo>
                    <a:pt x="213" y="1"/>
                    <a:pt x="182" y="0"/>
                    <a:pt x="152" y="0"/>
                  </a:cubicBezTo>
                  <a:cubicBezTo>
                    <a:pt x="143" y="0"/>
                    <a:pt x="134" y="7"/>
                    <a:pt x="134" y="17"/>
                  </a:cubicBezTo>
                  <a:cubicBezTo>
                    <a:pt x="134" y="26"/>
                    <a:pt x="142" y="35"/>
                    <a:pt x="152" y="35"/>
                  </a:cubicBezTo>
                  <a:cubicBezTo>
                    <a:pt x="177" y="35"/>
                    <a:pt x="201" y="36"/>
                    <a:pt x="225" y="38"/>
                  </a:cubicBezTo>
                  <a:cubicBezTo>
                    <a:pt x="229" y="111"/>
                    <a:pt x="228" y="178"/>
                    <a:pt x="225" y="226"/>
                  </a:cubicBezTo>
                  <a:cubicBezTo>
                    <a:pt x="177" y="229"/>
                    <a:pt x="111" y="230"/>
                    <a:pt x="37" y="226"/>
                  </a:cubicBezTo>
                  <a:cubicBezTo>
                    <a:pt x="32" y="153"/>
                    <a:pt x="34" y="86"/>
                    <a:pt x="37" y="38"/>
                  </a:cubicBezTo>
                  <a:cubicBezTo>
                    <a:pt x="47" y="38"/>
                    <a:pt x="59" y="36"/>
                    <a:pt x="69" y="36"/>
                  </a:cubicBezTo>
                  <a:cubicBezTo>
                    <a:pt x="78" y="36"/>
                    <a:pt x="87" y="28"/>
                    <a:pt x="85" y="19"/>
                  </a:cubicBezTo>
                  <a:cubicBezTo>
                    <a:pt x="84" y="10"/>
                    <a:pt x="76" y="1"/>
                    <a:pt x="67" y="3"/>
                  </a:cubicBezTo>
                  <a:cubicBezTo>
                    <a:pt x="51" y="3"/>
                    <a:pt x="35" y="4"/>
                    <a:pt x="19" y="6"/>
                  </a:cubicBezTo>
                  <a:cubicBezTo>
                    <a:pt x="10" y="6"/>
                    <a:pt x="3" y="13"/>
                    <a:pt x="3" y="22"/>
                  </a:cubicBezTo>
                  <a:cubicBezTo>
                    <a:pt x="0" y="74"/>
                    <a:pt x="-3" y="154"/>
                    <a:pt x="3" y="245"/>
                  </a:cubicBezTo>
                  <a:cubicBezTo>
                    <a:pt x="3" y="253"/>
                    <a:pt x="10" y="261"/>
                    <a:pt x="19" y="261"/>
                  </a:cubicBezTo>
                  <a:cubicBezTo>
                    <a:pt x="57" y="264"/>
                    <a:pt x="94" y="264"/>
                    <a:pt x="127" y="264"/>
                  </a:cubicBezTo>
                  <a:cubicBezTo>
                    <a:pt x="172" y="264"/>
                    <a:pt x="212" y="262"/>
                    <a:pt x="242" y="261"/>
                  </a:cubicBezTo>
                  <a:cubicBezTo>
                    <a:pt x="251" y="261"/>
                    <a:pt x="258" y="253"/>
                    <a:pt x="258" y="245"/>
                  </a:cubicBezTo>
                  <a:cubicBezTo>
                    <a:pt x="261" y="192"/>
                    <a:pt x="264" y="112"/>
                    <a:pt x="258" y="22"/>
                  </a:cubicBezTo>
                  <a:cubicBezTo>
                    <a:pt x="258" y="10"/>
                    <a:pt x="251" y="3"/>
                    <a:pt x="242" y="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6393960" y="3724920"/>
              <a:ext cx="231840" cy="231840"/>
            </a:xfrm>
            <a:custGeom>
              <a:avLst/>
              <a:gdLst/>
              <a:ahLst/>
              <a:cxnLst/>
              <a:rect l="l" t="t" r="r" b="b"/>
              <a:pathLst>
                <a:path w="644" h="644" extrusionOk="0">
                  <a:moveTo>
                    <a:pt x="385" y="626"/>
                  </a:moveTo>
                  <a:cubicBezTo>
                    <a:pt x="385" y="635"/>
                    <a:pt x="392" y="644"/>
                    <a:pt x="402" y="644"/>
                  </a:cubicBezTo>
                  <a:cubicBezTo>
                    <a:pt x="411" y="644"/>
                    <a:pt x="419" y="636"/>
                    <a:pt x="419" y="626"/>
                  </a:cubicBezTo>
                  <a:lnTo>
                    <a:pt x="419" y="565"/>
                  </a:lnTo>
                  <a:cubicBezTo>
                    <a:pt x="491" y="562"/>
                    <a:pt x="537" y="555"/>
                    <a:pt x="539" y="555"/>
                  </a:cubicBezTo>
                  <a:cubicBezTo>
                    <a:pt x="546" y="553"/>
                    <a:pt x="552" y="547"/>
                    <a:pt x="554" y="540"/>
                  </a:cubicBezTo>
                  <a:cubicBezTo>
                    <a:pt x="554" y="539"/>
                    <a:pt x="559" y="493"/>
                    <a:pt x="564" y="421"/>
                  </a:cubicBezTo>
                  <a:lnTo>
                    <a:pt x="626" y="421"/>
                  </a:lnTo>
                  <a:cubicBezTo>
                    <a:pt x="635" y="421"/>
                    <a:pt x="644" y="413"/>
                    <a:pt x="644" y="403"/>
                  </a:cubicBezTo>
                  <a:cubicBezTo>
                    <a:pt x="644" y="394"/>
                    <a:pt x="637" y="386"/>
                    <a:pt x="626" y="386"/>
                  </a:cubicBezTo>
                  <a:lnTo>
                    <a:pt x="565" y="386"/>
                  </a:lnTo>
                  <a:cubicBezTo>
                    <a:pt x="567" y="348"/>
                    <a:pt x="567" y="304"/>
                    <a:pt x="565" y="257"/>
                  </a:cubicBezTo>
                  <a:lnTo>
                    <a:pt x="626" y="257"/>
                  </a:lnTo>
                  <a:cubicBezTo>
                    <a:pt x="635" y="257"/>
                    <a:pt x="644" y="250"/>
                    <a:pt x="644" y="240"/>
                  </a:cubicBezTo>
                  <a:cubicBezTo>
                    <a:pt x="644" y="230"/>
                    <a:pt x="637" y="223"/>
                    <a:pt x="626" y="223"/>
                  </a:cubicBezTo>
                  <a:lnTo>
                    <a:pt x="565" y="223"/>
                  </a:lnTo>
                  <a:cubicBezTo>
                    <a:pt x="564" y="185"/>
                    <a:pt x="559" y="144"/>
                    <a:pt x="555" y="103"/>
                  </a:cubicBezTo>
                  <a:cubicBezTo>
                    <a:pt x="554" y="96"/>
                    <a:pt x="548" y="88"/>
                    <a:pt x="540" y="88"/>
                  </a:cubicBezTo>
                  <a:cubicBezTo>
                    <a:pt x="500" y="84"/>
                    <a:pt x="460" y="80"/>
                    <a:pt x="421" y="78"/>
                  </a:cubicBezTo>
                  <a:lnTo>
                    <a:pt x="421" y="17"/>
                  </a:lnTo>
                  <a:cubicBezTo>
                    <a:pt x="421" y="8"/>
                    <a:pt x="414" y="0"/>
                    <a:pt x="403" y="0"/>
                  </a:cubicBezTo>
                  <a:cubicBezTo>
                    <a:pt x="395" y="0"/>
                    <a:pt x="386" y="7"/>
                    <a:pt x="386" y="17"/>
                  </a:cubicBezTo>
                  <a:lnTo>
                    <a:pt x="386" y="77"/>
                  </a:lnTo>
                  <a:cubicBezTo>
                    <a:pt x="339" y="75"/>
                    <a:pt x="296" y="75"/>
                    <a:pt x="258" y="77"/>
                  </a:cubicBezTo>
                  <a:lnTo>
                    <a:pt x="258" y="17"/>
                  </a:lnTo>
                  <a:cubicBezTo>
                    <a:pt x="258" y="8"/>
                    <a:pt x="250" y="0"/>
                    <a:pt x="240" y="0"/>
                  </a:cubicBezTo>
                  <a:cubicBezTo>
                    <a:pt x="230" y="0"/>
                    <a:pt x="223" y="7"/>
                    <a:pt x="223" y="17"/>
                  </a:cubicBezTo>
                  <a:lnTo>
                    <a:pt x="223" y="78"/>
                  </a:lnTo>
                  <a:cubicBezTo>
                    <a:pt x="150" y="81"/>
                    <a:pt x="103" y="88"/>
                    <a:pt x="103" y="88"/>
                  </a:cubicBezTo>
                  <a:cubicBezTo>
                    <a:pt x="96" y="90"/>
                    <a:pt x="90" y="96"/>
                    <a:pt x="89" y="103"/>
                  </a:cubicBezTo>
                  <a:cubicBezTo>
                    <a:pt x="89" y="104"/>
                    <a:pt x="83" y="150"/>
                    <a:pt x="79" y="223"/>
                  </a:cubicBezTo>
                  <a:lnTo>
                    <a:pt x="17" y="223"/>
                  </a:lnTo>
                  <a:cubicBezTo>
                    <a:pt x="9" y="223"/>
                    <a:pt x="0" y="230"/>
                    <a:pt x="0" y="240"/>
                  </a:cubicBezTo>
                  <a:cubicBezTo>
                    <a:pt x="0" y="250"/>
                    <a:pt x="7" y="257"/>
                    <a:pt x="17" y="257"/>
                  </a:cubicBezTo>
                  <a:lnTo>
                    <a:pt x="77" y="257"/>
                  </a:lnTo>
                  <a:cubicBezTo>
                    <a:pt x="76" y="295"/>
                    <a:pt x="76" y="339"/>
                    <a:pt x="77" y="386"/>
                  </a:cubicBezTo>
                  <a:lnTo>
                    <a:pt x="17" y="386"/>
                  </a:lnTo>
                  <a:cubicBezTo>
                    <a:pt x="9" y="386"/>
                    <a:pt x="0" y="393"/>
                    <a:pt x="0" y="403"/>
                  </a:cubicBezTo>
                  <a:cubicBezTo>
                    <a:pt x="0" y="412"/>
                    <a:pt x="7" y="421"/>
                    <a:pt x="17" y="421"/>
                  </a:cubicBezTo>
                  <a:lnTo>
                    <a:pt x="79" y="421"/>
                  </a:lnTo>
                  <a:cubicBezTo>
                    <a:pt x="80" y="459"/>
                    <a:pt x="84" y="499"/>
                    <a:pt x="89" y="540"/>
                  </a:cubicBezTo>
                  <a:cubicBezTo>
                    <a:pt x="90" y="547"/>
                    <a:pt x="96" y="555"/>
                    <a:pt x="103" y="555"/>
                  </a:cubicBezTo>
                  <a:cubicBezTo>
                    <a:pt x="144" y="559"/>
                    <a:pt x="185" y="563"/>
                    <a:pt x="223" y="565"/>
                  </a:cubicBezTo>
                  <a:lnTo>
                    <a:pt x="223" y="626"/>
                  </a:lnTo>
                  <a:cubicBezTo>
                    <a:pt x="223" y="635"/>
                    <a:pt x="230" y="644"/>
                    <a:pt x="240" y="644"/>
                  </a:cubicBezTo>
                  <a:cubicBezTo>
                    <a:pt x="250" y="644"/>
                    <a:pt x="258" y="636"/>
                    <a:pt x="258" y="626"/>
                  </a:cubicBezTo>
                  <a:lnTo>
                    <a:pt x="258" y="566"/>
                  </a:lnTo>
                  <a:cubicBezTo>
                    <a:pt x="278" y="566"/>
                    <a:pt x="299" y="568"/>
                    <a:pt x="317" y="568"/>
                  </a:cubicBezTo>
                  <a:cubicBezTo>
                    <a:pt x="341" y="568"/>
                    <a:pt x="364" y="568"/>
                    <a:pt x="386" y="566"/>
                  </a:cubicBezTo>
                  <a:lnTo>
                    <a:pt x="386" y="626"/>
                  </a:lnTo>
                  <a:lnTo>
                    <a:pt x="385" y="626"/>
                  </a:lnTo>
                  <a:moveTo>
                    <a:pt x="119" y="521"/>
                  </a:moveTo>
                  <a:cubicBezTo>
                    <a:pt x="98" y="336"/>
                    <a:pt x="114" y="169"/>
                    <a:pt x="119" y="122"/>
                  </a:cubicBezTo>
                  <a:cubicBezTo>
                    <a:pt x="166" y="116"/>
                    <a:pt x="335" y="100"/>
                    <a:pt x="519" y="122"/>
                  </a:cubicBezTo>
                  <a:cubicBezTo>
                    <a:pt x="540" y="307"/>
                    <a:pt x="524" y="475"/>
                    <a:pt x="519" y="521"/>
                  </a:cubicBezTo>
                  <a:cubicBezTo>
                    <a:pt x="472" y="527"/>
                    <a:pt x="304" y="543"/>
                    <a:pt x="119" y="5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6488280" y="38206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8"/>
                  </a:moveTo>
                  <a:cubicBezTo>
                    <a:pt x="35" y="21"/>
                    <a:pt x="35" y="24"/>
                    <a:pt x="33" y="26"/>
                  </a:cubicBezTo>
                  <a:cubicBezTo>
                    <a:pt x="32" y="29"/>
                    <a:pt x="29" y="32"/>
                    <a:pt x="26" y="33"/>
                  </a:cubicBezTo>
                  <a:cubicBezTo>
                    <a:pt x="24" y="35"/>
                    <a:pt x="21" y="35"/>
                    <a:pt x="18" y="35"/>
                  </a:cubicBezTo>
                  <a:cubicBezTo>
                    <a:pt x="15" y="35"/>
                    <a:pt x="12" y="35"/>
                    <a:pt x="9" y="33"/>
                  </a:cubicBezTo>
                  <a:cubicBezTo>
                    <a:pt x="6" y="32"/>
                    <a:pt x="4" y="29"/>
                    <a:pt x="2" y="26"/>
                  </a:cubicBezTo>
                  <a:cubicBezTo>
                    <a:pt x="1" y="24"/>
                    <a:pt x="0" y="21"/>
                    <a:pt x="0" y="18"/>
                  </a:cubicBezTo>
                  <a:cubicBezTo>
                    <a:pt x="0" y="15"/>
                    <a:pt x="1" y="12"/>
                    <a:pt x="2" y="9"/>
                  </a:cubicBezTo>
                  <a:cubicBezTo>
                    <a:pt x="4" y="6"/>
                    <a:pt x="6" y="5"/>
                    <a:pt x="9" y="3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21" y="0"/>
                    <a:pt x="24" y="2"/>
                    <a:pt x="26" y="3"/>
                  </a:cubicBezTo>
                  <a:cubicBezTo>
                    <a:pt x="29" y="5"/>
                    <a:pt x="31" y="6"/>
                    <a:pt x="33" y="9"/>
                  </a:cubicBezTo>
                  <a:cubicBezTo>
                    <a:pt x="34" y="12"/>
                    <a:pt x="35" y="15"/>
                    <a:pt x="35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6488280" y="384804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0"/>
                  </a:moveTo>
                  <a:cubicBezTo>
                    <a:pt x="9" y="0"/>
                    <a:pt x="0" y="7"/>
                    <a:pt x="0" y="17"/>
                  </a:cubicBezTo>
                  <a:cubicBezTo>
                    <a:pt x="0" y="28"/>
                    <a:pt x="8" y="35"/>
                    <a:pt x="18" y="35"/>
                  </a:cubicBezTo>
                  <a:cubicBezTo>
                    <a:pt x="29" y="35"/>
                    <a:pt x="35" y="28"/>
                    <a:pt x="35" y="17"/>
                  </a:cubicBezTo>
                  <a:cubicBezTo>
                    <a:pt x="35" y="7"/>
                    <a:pt x="28" y="0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5"/>
            <p:cNvSpPr/>
            <p:nvPr/>
          </p:nvSpPr>
          <p:spPr>
            <a:xfrm>
              <a:off x="6517080" y="38206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0"/>
                  </a:moveTo>
                  <a:cubicBezTo>
                    <a:pt x="21" y="0"/>
                    <a:pt x="24" y="1"/>
                    <a:pt x="26" y="2"/>
                  </a:cubicBezTo>
                  <a:cubicBezTo>
                    <a:pt x="29" y="4"/>
                    <a:pt x="32" y="6"/>
                    <a:pt x="33" y="9"/>
                  </a:cubicBezTo>
                  <a:cubicBezTo>
                    <a:pt x="35" y="12"/>
                    <a:pt x="35" y="15"/>
                    <a:pt x="35" y="18"/>
                  </a:cubicBezTo>
                  <a:cubicBezTo>
                    <a:pt x="35" y="21"/>
                    <a:pt x="34" y="24"/>
                    <a:pt x="32" y="26"/>
                  </a:cubicBezTo>
                  <a:cubicBezTo>
                    <a:pt x="31" y="29"/>
                    <a:pt x="29" y="32"/>
                    <a:pt x="26" y="33"/>
                  </a:cubicBezTo>
                  <a:cubicBezTo>
                    <a:pt x="23" y="35"/>
                    <a:pt x="20" y="35"/>
                    <a:pt x="17" y="35"/>
                  </a:cubicBezTo>
                  <a:cubicBezTo>
                    <a:pt x="14" y="35"/>
                    <a:pt x="11" y="34"/>
                    <a:pt x="9" y="33"/>
                  </a:cubicBezTo>
                  <a:cubicBezTo>
                    <a:pt x="6" y="31"/>
                    <a:pt x="4" y="29"/>
                    <a:pt x="2" y="26"/>
                  </a:cubicBezTo>
                  <a:cubicBezTo>
                    <a:pt x="1" y="23"/>
                    <a:pt x="0" y="20"/>
                    <a:pt x="0" y="17"/>
                  </a:cubicBezTo>
                  <a:cubicBezTo>
                    <a:pt x="0" y="14"/>
                    <a:pt x="1" y="12"/>
                    <a:pt x="2" y="9"/>
                  </a:cubicBezTo>
                  <a:cubicBezTo>
                    <a:pt x="4" y="7"/>
                    <a:pt x="6" y="4"/>
                    <a:pt x="9" y="2"/>
                  </a:cubicBezTo>
                  <a:cubicBezTo>
                    <a:pt x="11" y="1"/>
                    <a:pt x="15" y="0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6517080" y="384804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35"/>
                  </a:moveTo>
                  <a:cubicBezTo>
                    <a:pt x="26" y="35"/>
                    <a:pt x="35" y="28"/>
                    <a:pt x="35" y="17"/>
                  </a:cubicBezTo>
                  <a:cubicBezTo>
                    <a:pt x="35" y="7"/>
                    <a:pt x="28" y="0"/>
                    <a:pt x="18" y="0"/>
                  </a:cubicBezTo>
                  <a:cubicBezTo>
                    <a:pt x="9" y="0"/>
                    <a:pt x="0" y="7"/>
                    <a:pt x="0" y="17"/>
                  </a:cubicBezTo>
                  <a:cubicBezTo>
                    <a:pt x="0" y="28"/>
                    <a:pt x="9" y="35"/>
                    <a:pt x="18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7681" y="252547"/>
            <a:ext cx="3781500" cy="1045029"/>
          </a:xfrm>
        </p:spPr>
        <p:txBody>
          <a:bodyPr/>
          <a:lstStyle/>
          <a:p>
            <a:r>
              <a:rPr lang="en-US" dirty="0" smtClean="0">
                <a:latin typeface="Syne" panose="020B0604020202020204" charset="0"/>
              </a:rPr>
              <a:t>Transcript Lengths</a:t>
            </a:r>
            <a:endParaRPr lang="en-US" dirty="0">
              <a:latin typeface="Syne" panose="020B060402020202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07680" y="1297577"/>
            <a:ext cx="4836320" cy="2464526"/>
          </a:xfrm>
        </p:spPr>
        <p:txBody>
          <a:bodyPr/>
          <a:lstStyle/>
          <a:p>
            <a:r>
              <a:rPr lang="en-US" dirty="0" smtClean="0"/>
              <a:t>A majority </a:t>
            </a:r>
            <a:r>
              <a:rPr lang="en-US" dirty="0"/>
              <a:t>of transcripts </a:t>
            </a:r>
            <a:r>
              <a:rPr lang="en-US" dirty="0" smtClean="0"/>
              <a:t>fall </a:t>
            </a:r>
            <a:r>
              <a:rPr lang="en-US" dirty="0"/>
              <a:t>within the 5,000 to </a:t>
            </a:r>
            <a:r>
              <a:rPr lang="en-US" dirty="0" smtClean="0"/>
              <a:t>15,000 </a:t>
            </a:r>
            <a:r>
              <a:rPr lang="en-US" dirty="0"/>
              <a:t>range</a:t>
            </a:r>
            <a:r>
              <a:rPr lang="en-US" dirty="0" smtClean="0"/>
              <a:t>.</a:t>
            </a:r>
          </a:p>
          <a:p>
            <a:pPr marL="152400" indent="0">
              <a:buNone/>
            </a:pPr>
            <a:endParaRPr lang="en-US" dirty="0"/>
          </a:p>
          <a:p>
            <a:r>
              <a:rPr lang="en-US" dirty="0" smtClean="0"/>
              <a:t>There </a:t>
            </a:r>
            <a:r>
              <a:rPr lang="en-US" dirty="0"/>
              <a:t>is a significant number of shorter transcripts (&lt; </a:t>
            </a:r>
            <a:r>
              <a:rPr lang="en-US" dirty="0" smtClean="0"/>
              <a:t>2,000), </a:t>
            </a:r>
            <a:r>
              <a:rPr lang="en-US" dirty="0"/>
              <a:t>suggesting the presence of brief content</a:t>
            </a:r>
            <a:r>
              <a:rPr lang="en-US" dirty="0" smtClean="0"/>
              <a:t>.</a:t>
            </a:r>
          </a:p>
          <a:p>
            <a:pPr marL="152400" indent="0">
              <a:buNone/>
            </a:pP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most common transcript length appears to be around 8,000–10,000 words, as indicated by the highest frequency bars</a:t>
            </a:r>
            <a:r>
              <a:rPr lang="en-US" dirty="0" smtClean="0"/>
              <a:t>.</a:t>
            </a:r>
          </a:p>
          <a:p>
            <a:pPr marL="152400" indent="0">
              <a:buNone/>
            </a:pPr>
            <a:endParaRPr lang="en-US" dirty="0"/>
          </a:p>
          <a:p>
            <a:r>
              <a:rPr lang="en-US" dirty="0" smtClean="0"/>
              <a:t>There </a:t>
            </a:r>
            <a:r>
              <a:rPr lang="en-US" dirty="0"/>
              <a:t>are a few exceptionally long transcripts (&gt; </a:t>
            </a:r>
            <a:r>
              <a:rPr lang="en-US" dirty="0" smtClean="0"/>
              <a:t>16,000 </a:t>
            </a:r>
            <a:r>
              <a:rPr lang="en-US" dirty="0"/>
              <a:t>words), but they occur less frequently.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8193" b="-38193"/>
          <a:stretch/>
        </p:blipFill>
        <p:spPr>
          <a:xfrm>
            <a:off x="35719" y="392906"/>
            <a:ext cx="4271962" cy="4210993"/>
          </a:xfrm>
          <a:prstGeom prst="roundRect">
            <a:avLst>
              <a:gd name="adj" fmla="val 15557"/>
            </a:avLst>
          </a:prstGeom>
        </p:spPr>
      </p:pic>
    </p:spTree>
    <p:extLst>
      <p:ext uri="{BB962C8B-B14F-4D97-AF65-F5344CB8AC3E}">
        <p14:creationId xmlns:p14="http://schemas.microsoft.com/office/powerpoint/2010/main" val="122590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Finance &amp; Industry Terms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3999" y="1866025"/>
            <a:ext cx="4648115" cy="2298300"/>
          </a:xfrm>
        </p:spPr>
        <p:txBody>
          <a:bodyPr/>
          <a:lstStyle/>
          <a:p>
            <a:pPr algn="just"/>
            <a:r>
              <a:rPr lang="en-US" dirty="0"/>
              <a:t>Finance terms </a:t>
            </a:r>
            <a:r>
              <a:rPr lang="en-US" dirty="0" smtClean="0"/>
              <a:t>are </a:t>
            </a:r>
            <a:r>
              <a:rPr lang="en-US" dirty="0"/>
              <a:t>less frequently mentioned compared to industry-specific terms. </a:t>
            </a:r>
          </a:p>
          <a:p>
            <a:pPr marL="15240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 #</a:t>
            </a:r>
            <a:r>
              <a:rPr lang="en-US" dirty="0" err="1" smtClean="0"/>
              <a:t>Finance_terms</a:t>
            </a:r>
            <a:r>
              <a:rPr lang="en-US" dirty="0" smtClean="0"/>
              <a:t>  ("</a:t>
            </a:r>
            <a:r>
              <a:rPr lang="en-US" dirty="0"/>
              <a:t>funding", "investment", "capital", "equity", "profit", "</a:t>
            </a:r>
            <a:r>
              <a:rPr lang="en-US" dirty="0" smtClean="0"/>
              <a:t>loss“) 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#</a:t>
            </a:r>
            <a:r>
              <a:rPr lang="en-US" dirty="0" err="1" smtClean="0"/>
              <a:t>industry_terms</a:t>
            </a:r>
            <a:r>
              <a:rPr lang="en-US" dirty="0" smtClean="0"/>
              <a:t>  ("</a:t>
            </a:r>
            <a:r>
              <a:rPr lang="en-US" dirty="0"/>
              <a:t>technology", "fashion", "food", "software", "retail", "</a:t>
            </a:r>
            <a:r>
              <a:rPr lang="en-US" dirty="0" smtClean="0"/>
              <a:t>health")</a:t>
            </a:r>
            <a:r>
              <a:rPr lang="en-US" dirty="0" err="1" smtClean="0"/>
              <a:t>e.t.c</a:t>
            </a:r>
            <a:endParaRPr lang="en-US" dirty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Most </a:t>
            </a:r>
            <a:r>
              <a:rPr lang="en-US" dirty="0"/>
              <a:t>discussions are industry-focused rather than finance-heavy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102" b="-32102"/>
          <a:stretch/>
        </p:blipFill>
        <p:spPr>
          <a:xfrm>
            <a:off x="269966" y="539500"/>
            <a:ext cx="3814354" cy="4064400"/>
          </a:xfrm>
        </p:spPr>
      </p:pic>
    </p:spTree>
    <p:extLst>
      <p:ext uri="{BB962C8B-B14F-4D97-AF65-F5344CB8AC3E}">
        <p14:creationId xmlns:p14="http://schemas.microsoft.com/office/powerpoint/2010/main" val="2582235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7589" y="0"/>
            <a:ext cx="4780000" cy="1094100"/>
          </a:xfrm>
        </p:spPr>
        <p:txBody>
          <a:bodyPr/>
          <a:lstStyle/>
          <a:p>
            <a:r>
              <a:rPr lang="en-US" dirty="0" smtClean="0"/>
              <a:t>Business Language Usage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7589" y="1105199"/>
            <a:ext cx="4780000" cy="3831051"/>
          </a:xfrm>
        </p:spPr>
        <p:txBody>
          <a:bodyPr/>
          <a:lstStyle/>
          <a:p>
            <a:pPr algn="just"/>
            <a:r>
              <a:rPr lang="en-US" dirty="0"/>
              <a:t>The histogram is right-skewed, meaning most transcripts have lower business term usage, but some contain a high density of these terms</a:t>
            </a:r>
            <a:r>
              <a:rPr lang="en-US" dirty="0" smtClean="0"/>
              <a:t>. (</a:t>
            </a:r>
            <a:r>
              <a:rPr lang="en-US" dirty="0"/>
              <a:t>profit, revenue, investment, market, </a:t>
            </a:r>
            <a:r>
              <a:rPr lang="en-US" dirty="0" smtClean="0"/>
              <a:t>growth, customers, sales , product </a:t>
            </a:r>
            <a:r>
              <a:rPr lang="en-US" dirty="0" err="1" smtClean="0"/>
              <a:t>e.t.c</a:t>
            </a:r>
            <a:r>
              <a:rPr lang="en-US" dirty="0" smtClean="0"/>
              <a:t>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smooth KDE (Kernel Density Estimate) curve further confirms this trend, with a peak around 15-20 business terms per transcript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The most common transcripts contain between 10 and 30 business terms, indicating that business language is present but not always dominant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Transcripts with fewer business terms (closer to 0) likely focus on personal stories or general </a:t>
            </a:r>
            <a:r>
              <a:rPr lang="en-US" dirty="0" smtClean="0"/>
              <a:t>advice while those (closer to  100) have more hardcore </a:t>
            </a:r>
            <a:r>
              <a:rPr lang="en-US" dirty="0"/>
              <a:t>business concepts.</a:t>
            </a:r>
          </a:p>
          <a:p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549" b="-19549"/>
          <a:stretch/>
        </p:blipFill>
        <p:spPr>
          <a:xfrm>
            <a:off x="165462" y="771925"/>
            <a:ext cx="4198537" cy="3392400"/>
          </a:xfrm>
          <a:prstGeom prst="roundRect">
            <a:avLst>
              <a:gd name="adj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3971806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Kmeans</a:t>
            </a:r>
            <a:r>
              <a:rPr lang="en-US" dirty="0" smtClean="0"/>
              <a:t> Clustering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3999" y="1866025"/>
            <a:ext cx="4700869" cy="1756741"/>
          </a:xfrm>
        </p:spPr>
        <p:txBody>
          <a:bodyPr/>
          <a:lstStyle/>
          <a:p>
            <a:pPr algn="just"/>
            <a:r>
              <a:rPr lang="en-US" dirty="0"/>
              <a:t>Here is the Elbow Method Plot with a vertical red dashed line indicating the optimal number of clusters (K </a:t>
            </a:r>
            <a:r>
              <a:rPr lang="en-US" dirty="0" smtClean="0"/>
              <a:t>= </a:t>
            </a:r>
            <a:r>
              <a:rPr lang="en-US" dirty="0"/>
              <a:t>7</a:t>
            </a:r>
            <a:r>
              <a:rPr lang="en-US" dirty="0" smtClean="0"/>
              <a:t>).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elbow point (K = </a:t>
            </a:r>
            <a:r>
              <a:rPr lang="en-US" dirty="0" smtClean="0"/>
              <a:t>7) </a:t>
            </a:r>
            <a:r>
              <a:rPr lang="en-US" dirty="0"/>
              <a:t>is where the distortion curve starts to </a:t>
            </a:r>
            <a:r>
              <a:rPr lang="en-US" dirty="0" smtClean="0"/>
              <a:t>level off.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8230" b="-58230"/>
          <a:stretch/>
        </p:blipFill>
        <p:spPr>
          <a:xfrm>
            <a:off x="130628" y="-182880"/>
            <a:ext cx="4233371" cy="5259978"/>
          </a:xfrm>
        </p:spPr>
      </p:pic>
    </p:spTree>
    <p:extLst>
      <p:ext uri="{BB962C8B-B14F-4D97-AF65-F5344CB8AC3E}">
        <p14:creationId xmlns:p14="http://schemas.microsoft.com/office/powerpoint/2010/main" val="2039705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40" y="583308"/>
            <a:ext cx="3781500" cy="1094100"/>
          </a:xfrm>
        </p:spPr>
        <p:txBody>
          <a:bodyPr/>
          <a:lstStyle/>
          <a:p>
            <a:r>
              <a:rPr lang="en-US" dirty="0" err="1" smtClean="0"/>
              <a:t>Kmeans</a:t>
            </a:r>
            <a:r>
              <a:rPr lang="en-US" dirty="0" smtClean="0"/>
              <a:t> Clusters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3999" y="1677408"/>
            <a:ext cx="4692077" cy="2650752"/>
          </a:xfrm>
        </p:spPr>
        <p:txBody>
          <a:bodyPr/>
          <a:lstStyle/>
          <a:p>
            <a:pPr algn="just"/>
            <a:r>
              <a:rPr lang="en-US" dirty="0"/>
              <a:t>Cluster 2 (</a:t>
            </a:r>
            <a:r>
              <a:rPr lang="en-US" dirty="0" smtClean="0"/>
              <a:t>Low </a:t>
            </a:r>
            <a:r>
              <a:rPr lang="en-US" dirty="0"/>
              <a:t>Business Term Usage</a:t>
            </a:r>
            <a:r>
              <a:rPr lang="en-US" dirty="0" smtClean="0"/>
              <a:t>) &lt;10</a:t>
            </a:r>
          </a:p>
          <a:p>
            <a:pPr algn="just"/>
            <a:r>
              <a:rPr lang="en-US" dirty="0" smtClean="0"/>
              <a:t>5&amp;0(Moderate Usage) 10-40</a:t>
            </a:r>
          </a:p>
          <a:p>
            <a:pPr algn="just"/>
            <a:r>
              <a:rPr lang="en-US" dirty="0" smtClean="0"/>
              <a:t>3&amp;6(business focused) 40-70</a:t>
            </a:r>
          </a:p>
          <a:p>
            <a:pPr algn="just"/>
            <a:r>
              <a:rPr lang="en-US" dirty="0" smtClean="0"/>
              <a:t>1&amp;4(High Usage) </a:t>
            </a:r>
            <a:r>
              <a:rPr lang="en-US" dirty="0"/>
              <a:t>&gt;</a:t>
            </a:r>
            <a:r>
              <a:rPr lang="en-US" dirty="0" smtClean="0"/>
              <a:t>70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Most </a:t>
            </a:r>
            <a:r>
              <a:rPr lang="en-US" dirty="0"/>
              <a:t>episodes fall into the low-to-moderate business term range.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smaller number of transcripts are highly technical or finance-heavy.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969" b="-17969"/>
          <a:stretch/>
        </p:blipFill>
        <p:spPr>
          <a:xfrm>
            <a:off x="60960" y="835592"/>
            <a:ext cx="4303040" cy="4064400"/>
          </a:xfrm>
        </p:spPr>
      </p:pic>
    </p:spTree>
    <p:extLst>
      <p:ext uri="{BB962C8B-B14F-4D97-AF65-F5344CB8AC3E}">
        <p14:creationId xmlns:p14="http://schemas.microsoft.com/office/powerpoint/2010/main" val="261028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 flipH="1" flipV="1">
            <a:off x="5278582" y="4587148"/>
            <a:ext cx="3241963" cy="3173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" r="2020"/>
          <a:stretch>
            <a:fillRect/>
          </a:stretch>
        </p:blipFill>
        <p:spPr>
          <a:xfrm>
            <a:off x="0" y="-15300"/>
            <a:ext cx="9159300" cy="5158800"/>
          </a:xfrm>
        </p:spPr>
      </p:pic>
    </p:spTree>
    <p:extLst>
      <p:ext uri="{BB962C8B-B14F-4D97-AF65-F5344CB8AC3E}">
        <p14:creationId xmlns:p14="http://schemas.microsoft.com/office/powerpoint/2010/main" val="945768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WordCloud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131" y="1954874"/>
            <a:ext cx="3053419" cy="3065534"/>
          </a:xfrm>
        </p:spPr>
        <p:txBody>
          <a:bodyPr/>
          <a:lstStyle/>
          <a:p>
            <a:pPr algn="r"/>
            <a:r>
              <a:rPr lang="en-US" dirty="0"/>
              <a:t>"try," "happen," "decide," "risk," "change"</a:t>
            </a:r>
          </a:p>
          <a:p>
            <a:pPr algn="r"/>
            <a:r>
              <a:rPr lang="en-US" dirty="0"/>
              <a:t>Entrepreneurship requires taking risks and embracing change.</a:t>
            </a:r>
          </a:p>
          <a:p>
            <a:pPr algn="r"/>
            <a:r>
              <a:rPr lang="en-US" dirty="0"/>
              <a:t>Founders frequently discuss decision-making processes and the mindset needed to adapt.</a:t>
            </a:r>
            <a:endParaRPr lang="en-US" dirty="0" smtClean="0"/>
          </a:p>
          <a:p>
            <a:pPr algn="r"/>
            <a:endParaRPr lang="en-US" dirty="0"/>
          </a:p>
          <a:p>
            <a:pPr algn="r"/>
            <a:endParaRPr lang="en-US" dirty="0" smtClean="0"/>
          </a:p>
          <a:p>
            <a:pPr algn="r"/>
            <a:endParaRPr lang="en-US" sz="1400" dirty="0">
              <a:solidFill>
                <a:schemeClr val="bg2"/>
              </a:solidFill>
              <a:latin typeface="Syne" panose="020B0604020202020204" charset="0"/>
            </a:endParaRPr>
          </a:p>
          <a:p>
            <a:pPr algn="r"/>
            <a:r>
              <a:rPr lang="en-US" sz="1400" dirty="0">
                <a:solidFill>
                  <a:schemeClr val="bg2"/>
                </a:solidFill>
                <a:latin typeface="Syne" panose="020B0604020202020204" charset="0"/>
              </a:rPr>
              <a:t>Time and Persistence</a:t>
            </a:r>
          </a:p>
          <a:p>
            <a:pPr algn="r"/>
            <a:r>
              <a:rPr lang="en-US" dirty="0"/>
              <a:t>"time," "year," "long," "moment"</a:t>
            </a:r>
          </a:p>
          <a:p>
            <a:pPr algn="r"/>
            <a:endParaRPr lang="en-US" dirty="0" smtClean="0"/>
          </a:p>
          <a:p>
            <a:pPr algn="r"/>
            <a:r>
              <a:rPr lang="en-US" dirty="0" smtClean="0"/>
              <a:t>The </a:t>
            </a:r>
            <a:r>
              <a:rPr lang="en-US" dirty="0"/>
              <a:t>journey to success often takes years, and entrepreneurs reflect on key moments that shaped their </a:t>
            </a:r>
            <a:r>
              <a:rPr lang="en-US" dirty="0" smtClean="0"/>
              <a:t>business.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3132550" y="1954874"/>
            <a:ext cx="2949188" cy="3065534"/>
          </a:xfrm>
        </p:spPr>
        <p:txBody>
          <a:bodyPr/>
          <a:lstStyle/>
          <a:p>
            <a:pPr algn="r"/>
            <a:r>
              <a:rPr lang="en-US" dirty="0"/>
              <a:t>"idea," "product," "create," "develop," "market"</a:t>
            </a:r>
          </a:p>
          <a:p>
            <a:pPr algn="r"/>
            <a:endParaRPr lang="en-US" dirty="0" smtClean="0"/>
          </a:p>
          <a:p>
            <a:pPr algn="r"/>
            <a:r>
              <a:rPr lang="en-US" dirty="0" smtClean="0"/>
              <a:t>Entrepreneurship </a:t>
            </a:r>
            <a:r>
              <a:rPr lang="en-US" dirty="0"/>
              <a:t>is heavily centered around innovation—turning an idea into a product and bringing it to market. </a:t>
            </a:r>
            <a:endParaRPr lang="en-US" dirty="0" smtClean="0"/>
          </a:p>
          <a:p>
            <a:pPr algn="r"/>
            <a:endParaRPr lang="en-US" dirty="0" smtClean="0"/>
          </a:p>
          <a:p>
            <a:pPr algn="r"/>
            <a:r>
              <a:rPr lang="en-US" sz="1400" b="1" dirty="0" smtClean="0">
                <a:solidFill>
                  <a:schemeClr val="bg2"/>
                </a:solidFill>
                <a:latin typeface="Syne" panose="020B0604020202020204" charset="0"/>
              </a:rPr>
              <a:t>Success </a:t>
            </a:r>
            <a:r>
              <a:rPr lang="en-US" sz="1400" b="1" dirty="0">
                <a:solidFill>
                  <a:schemeClr val="bg2"/>
                </a:solidFill>
                <a:latin typeface="Syne" panose="020B0604020202020204" charset="0"/>
              </a:rPr>
              <a:t>and Growth</a:t>
            </a:r>
          </a:p>
          <a:p>
            <a:pPr algn="r"/>
            <a:r>
              <a:rPr lang="en-US" dirty="0"/>
              <a:t>"start," "build," "grow," "business," "company," "work"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Entrepreneurs frequently discuss starting a venture, building a brand, and strategies to grow.</a:t>
            </a:r>
          </a:p>
          <a:p>
            <a:pPr algn="r"/>
            <a:endParaRPr lang="en-US" dirty="0" smtClean="0"/>
          </a:p>
          <a:p>
            <a:pPr algn="r"/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6011400" y="1954874"/>
            <a:ext cx="2569892" cy="3065534"/>
          </a:xfrm>
        </p:spPr>
        <p:txBody>
          <a:bodyPr/>
          <a:lstStyle/>
          <a:p>
            <a:pPr algn="r"/>
            <a:r>
              <a:rPr lang="en-US" dirty="0"/>
              <a:t>"sell," "money," "invest," "need," "cost"</a:t>
            </a:r>
          </a:p>
          <a:p>
            <a:pPr algn="r"/>
            <a:r>
              <a:rPr lang="en-US" dirty="0"/>
              <a:t>A crucial aspect of entrepreneurship is raising capital, selling products, and managing costs</a:t>
            </a:r>
            <a:r>
              <a:rPr lang="en-US" dirty="0" smtClean="0"/>
              <a:t>.</a:t>
            </a:r>
          </a:p>
          <a:p>
            <a:pPr algn="r"/>
            <a:endParaRPr lang="en-US" dirty="0"/>
          </a:p>
          <a:p>
            <a:pPr algn="r"/>
            <a:r>
              <a:rPr lang="en-US" sz="1400" b="1" dirty="0">
                <a:solidFill>
                  <a:schemeClr val="bg2"/>
                </a:solidFill>
                <a:latin typeface="Syne" panose="020B0604020202020204" charset="0"/>
              </a:rPr>
              <a:t>Networking and Relationships</a:t>
            </a:r>
          </a:p>
          <a:p>
            <a:pPr algn="r"/>
            <a:r>
              <a:rPr lang="en-US" dirty="0"/>
              <a:t>"team," "friend," "partner," "family"</a:t>
            </a:r>
          </a:p>
          <a:p>
            <a:pPr algn="r"/>
            <a:endParaRPr lang="en-US" dirty="0" smtClean="0"/>
          </a:p>
          <a:p>
            <a:pPr algn="r"/>
            <a:r>
              <a:rPr lang="en-US" dirty="0" smtClean="0"/>
              <a:t>Entrepreneurs </a:t>
            </a:r>
            <a:r>
              <a:rPr lang="en-US" dirty="0"/>
              <a:t>emphasize the importance of building strong teams, partnerships, and support networks.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>
          <a:xfrm>
            <a:off x="649612" y="1304937"/>
            <a:ext cx="2412600" cy="457200"/>
          </a:xfrm>
        </p:spPr>
        <p:txBody>
          <a:bodyPr/>
          <a:lstStyle/>
          <a:p>
            <a:r>
              <a:rPr lang="en-US" sz="1400" dirty="0" smtClean="0"/>
              <a:t>Mindset &amp; Decision Making</a:t>
            </a:r>
            <a:endParaRPr lang="en-US" sz="140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>
          <a:xfrm>
            <a:off x="3365675" y="1304937"/>
            <a:ext cx="2412600" cy="457200"/>
          </a:xfrm>
        </p:spPr>
        <p:txBody>
          <a:bodyPr/>
          <a:lstStyle/>
          <a:p>
            <a:r>
              <a:rPr lang="en-US" sz="1400" dirty="0" smtClean="0"/>
              <a:t>Ideas &amp; Innovation</a:t>
            </a:r>
            <a:endParaRPr lang="en-US" sz="1400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6"/>
          </p:nvPr>
        </p:nvSpPr>
        <p:spPr>
          <a:xfrm>
            <a:off x="6081738" y="1304937"/>
            <a:ext cx="2412600" cy="457200"/>
          </a:xfrm>
        </p:spPr>
        <p:txBody>
          <a:bodyPr/>
          <a:lstStyle/>
          <a:p>
            <a:r>
              <a:rPr lang="en-US" sz="1400" dirty="0" smtClean="0"/>
              <a:t>Funding &amp; Financials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79082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94" y="191589"/>
            <a:ext cx="8049706" cy="687977"/>
          </a:xfrm>
        </p:spPr>
        <p:txBody>
          <a:bodyPr/>
          <a:lstStyle/>
          <a:p>
            <a:r>
              <a:rPr lang="en-US" dirty="0" smtClean="0"/>
              <a:t>Keyword Extraction for Key Themes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793" y="879566"/>
            <a:ext cx="8943703" cy="4075611"/>
          </a:xfrm>
        </p:spPr>
        <p:txBody>
          <a:bodyPr/>
          <a:lstStyle/>
          <a:p>
            <a:pPr algn="just"/>
            <a:r>
              <a:rPr lang="en-US" dirty="0"/>
              <a:t> Business &amp; Strategy Keywords</a:t>
            </a:r>
            <a:r>
              <a:rPr lang="en-US" dirty="0" smtClean="0"/>
              <a:t>:</a:t>
            </a:r>
          </a:p>
          <a:p>
            <a:pPr marL="15240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  'brand</a:t>
            </a:r>
            <a:r>
              <a:rPr lang="en-US" dirty="0"/>
              <a:t>', 'build', 'business', 'buy', 'company', 'product', 'sell', 'start', </a:t>
            </a:r>
            <a:r>
              <a:rPr lang="en-US" dirty="0" smtClean="0"/>
              <a:t>'store‘. </a:t>
            </a:r>
          </a:p>
          <a:p>
            <a:pPr marL="15240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  These suggest strong </a:t>
            </a:r>
            <a:r>
              <a:rPr lang="en-US" dirty="0"/>
              <a:t>focus on building businesses, branding, and sales.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Financial </a:t>
            </a:r>
            <a:r>
              <a:rPr lang="en-US" dirty="0"/>
              <a:t>&amp; Growth Terms</a:t>
            </a:r>
            <a:r>
              <a:rPr lang="en-US" dirty="0" smtClean="0"/>
              <a:t>: </a:t>
            </a:r>
          </a:p>
          <a:p>
            <a:pPr marL="15240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  'money</a:t>
            </a:r>
            <a:r>
              <a:rPr lang="en-US" dirty="0"/>
              <a:t>', 'make', 'need'</a:t>
            </a:r>
          </a:p>
          <a:p>
            <a:pPr marL="152400" indent="0" algn="just">
              <a:buNone/>
            </a:pPr>
            <a:r>
              <a:rPr lang="en-US" dirty="0" smtClean="0"/>
              <a:t>        Indicate </a:t>
            </a:r>
            <a:r>
              <a:rPr lang="en-US" dirty="0"/>
              <a:t>that entrepreneurs frequently discuss finances, capital, and funding strategies.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Personal </a:t>
            </a:r>
            <a:r>
              <a:rPr lang="en-US" dirty="0"/>
              <a:t>&amp; Motivational Words</a:t>
            </a:r>
            <a:r>
              <a:rPr lang="en-US" dirty="0" smtClean="0"/>
              <a:t>: </a:t>
            </a:r>
          </a:p>
          <a:p>
            <a:pPr marL="15240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  'idea</a:t>
            </a:r>
            <a:r>
              <a:rPr lang="en-US" dirty="0"/>
              <a:t>', 'help', 'life', 'love', 'think', 'time', 'try', 'want', 'work', 'world'</a:t>
            </a:r>
          </a:p>
          <a:p>
            <a:pPr marL="152400" indent="0" algn="just">
              <a:buNone/>
            </a:pPr>
            <a:r>
              <a:rPr lang="en-US" dirty="0" smtClean="0"/>
              <a:t>        These highlight </a:t>
            </a:r>
            <a:r>
              <a:rPr lang="en-US" dirty="0"/>
              <a:t>passion-driven discussions, reflecting the emotional aspect of entrepreneurship.</a:t>
            </a:r>
          </a:p>
          <a:p>
            <a:pPr marL="152400" indent="0" algn="just">
              <a:buNone/>
            </a:pPr>
            <a:r>
              <a:rPr lang="en-US" dirty="0" smtClean="0"/>
              <a:t>        "</a:t>
            </a:r>
            <a:r>
              <a:rPr lang="en-US" dirty="0"/>
              <a:t>Try", "want", "think" suggest that entrepreneurs emphasize innovation, problem-solving, and ambition.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Emotional </a:t>
            </a:r>
            <a:r>
              <a:rPr lang="en-US" dirty="0"/>
              <a:t>&amp; Conversational Words</a:t>
            </a:r>
            <a:r>
              <a:rPr lang="en-US" dirty="0" smtClean="0"/>
              <a:t>: </a:t>
            </a:r>
          </a:p>
          <a:p>
            <a:pPr marL="15240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 'great</a:t>
            </a:r>
            <a:r>
              <a:rPr lang="en-US" dirty="0"/>
              <a:t>', 'good', 'wow', 'thank', 'yes', 'listen', 'tell', 'talk'</a:t>
            </a:r>
          </a:p>
          <a:p>
            <a:pPr marL="152400" indent="0" algn="just">
              <a:buNone/>
            </a:pPr>
            <a:r>
              <a:rPr lang="en-US" dirty="0" smtClean="0"/>
              <a:t>        Reinforces </a:t>
            </a:r>
            <a:r>
              <a:rPr lang="en-US" dirty="0"/>
              <a:t>that these podcasts have a positive &amp; conversational tone, matching the sentiment analysis results.</a:t>
            </a:r>
          </a:p>
        </p:txBody>
      </p:sp>
    </p:spTree>
    <p:extLst>
      <p:ext uri="{BB962C8B-B14F-4D97-AF65-F5344CB8AC3E}">
        <p14:creationId xmlns:p14="http://schemas.microsoft.com/office/powerpoint/2010/main" val="3681735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4617" y="0"/>
            <a:ext cx="3781500" cy="1094100"/>
          </a:xfrm>
        </p:spPr>
        <p:txBody>
          <a:bodyPr/>
          <a:lstStyle/>
          <a:p>
            <a:r>
              <a:rPr lang="en-US" dirty="0" smtClean="0"/>
              <a:t>Challenge Vs Success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4000" y="1094100"/>
            <a:ext cx="4692914" cy="3070225"/>
          </a:xfrm>
        </p:spPr>
        <p:txBody>
          <a:bodyPr/>
          <a:lstStyle/>
          <a:p>
            <a:pPr algn="just"/>
            <a:r>
              <a:rPr lang="en-US" dirty="0"/>
              <a:t>Most data points fall between 0-20 mentions of challenges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Podcasts </a:t>
            </a:r>
            <a:r>
              <a:rPr lang="en-US" dirty="0"/>
              <a:t>mentioning more challenges also tend to mention more </a:t>
            </a:r>
            <a:r>
              <a:rPr lang="en-US" dirty="0" smtClean="0"/>
              <a:t>successes (Positive Correlation)—suggesting </a:t>
            </a:r>
            <a:r>
              <a:rPr lang="en-US" dirty="0"/>
              <a:t>a storytelling pattern where struggles lead to success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Different types of entrepreneurial journeys emerge</a:t>
            </a:r>
            <a:r>
              <a:rPr lang="en-US" dirty="0" smtClean="0"/>
              <a:t>:</a:t>
            </a:r>
          </a:p>
          <a:p>
            <a:pPr algn="just"/>
            <a:endParaRPr lang="en-US" dirty="0"/>
          </a:p>
          <a:p>
            <a:pPr marL="381000" indent="-228600" algn="just">
              <a:buAutoNum type="arabicPeriod"/>
            </a:pPr>
            <a:r>
              <a:rPr lang="en-US" dirty="0" smtClean="0"/>
              <a:t>Low </a:t>
            </a:r>
            <a:r>
              <a:rPr lang="en-US" dirty="0"/>
              <a:t>Challenge, High Success: Likely seasoned entrepreneurs or success-story-focused episodes</a:t>
            </a:r>
            <a:r>
              <a:rPr lang="en-US" dirty="0" smtClean="0"/>
              <a:t>.</a:t>
            </a:r>
          </a:p>
          <a:p>
            <a:pPr marL="381000" indent="-228600" algn="just">
              <a:buFont typeface="Hanken Grotesk Light"/>
              <a:buAutoNum type="arabicPeriod"/>
            </a:pPr>
            <a:r>
              <a:rPr lang="en-US" dirty="0"/>
              <a:t>High Challenge, Low Success: Likely failures or hard lessons in startups</a:t>
            </a:r>
            <a:r>
              <a:rPr lang="en-US" dirty="0" smtClean="0"/>
              <a:t>.</a:t>
            </a:r>
          </a:p>
          <a:p>
            <a:pPr marL="381000" indent="-228600" algn="just">
              <a:buFont typeface="Hanken Grotesk Light"/>
              <a:buAutoNum type="arabicPeriod"/>
            </a:pPr>
            <a:r>
              <a:rPr lang="en-US" dirty="0" smtClean="0"/>
              <a:t>B</a:t>
            </a:r>
            <a:r>
              <a:rPr lang="en-US" dirty="0"/>
              <a:t>alanced Challenge &amp; Success: Typical founder journeys, discussing both struggles and wins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228" b="-19228"/>
          <a:stretch/>
        </p:blipFill>
        <p:spPr>
          <a:xfrm>
            <a:off x="69669" y="539500"/>
            <a:ext cx="4214948" cy="4064400"/>
          </a:xfrm>
        </p:spPr>
      </p:pic>
    </p:spTree>
    <p:extLst>
      <p:ext uri="{BB962C8B-B14F-4D97-AF65-F5344CB8AC3E}">
        <p14:creationId xmlns:p14="http://schemas.microsoft.com/office/powerpoint/2010/main" val="701161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000" y="0"/>
            <a:ext cx="3781500" cy="1094100"/>
          </a:xfrm>
        </p:spPr>
        <p:txBody>
          <a:bodyPr/>
          <a:lstStyle/>
          <a:p>
            <a:r>
              <a:rPr lang="en-US" dirty="0" smtClean="0"/>
              <a:t>Sentiment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3999" y="1094099"/>
            <a:ext cx="4780001" cy="2946677"/>
          </a:xfrm>
        </p:spPr>
        <p:txBody>
          <a:bodyPr/>
          <a:lstStyle/>
          <a:p>
            <a:pPr algn="just"/>
            <a:r>
              <a:rPr lang="en-US" dirty="0"/>
              <a:t>Entrepreneurial podcasts are overwhelmingly positive</a:t>
            </a:r>
            <a:r>
              <a:rPr lang="en-US" dirty="0" smtClean="0"/>
              <a:t>.(+685, -48).</a:t>
            </a:r>
          </a:p>
          <a:p>
            <a:pPr marL="152400" indent="0" algn="just">
              <a:buNone/>
            </a:pPr>
            <a:endParaRPr lang="en-US" dirty="0"/>
          </a:p>
          <a:p>
            <a:pPr algn="just"/>
            <a:r>
              <a:rPr lang="en-US" dirty="0"/>
              <a:t>This </a:t>
            </a:r>
            <a:r>
              <a:rPr lang="en-US" dirty="0" smtClean="0"/>
              <a:t>could </a:t>
            </a:r>
            <a:r>
              <a:rPr lang="en-US" dirty="0"/>
              <a:t>mean entrepreneurs focus more on growth, success, and motivation rather than struggles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Very few episodes focus on failures, obstacles, or negativity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**Possible </a:t>
            </a:r>
            <a:r>
              <a:rPr lang="en-US" dirty="0"/>
              <a:t>Bias in the </a:t>
            </a:r>
            <a:r>
              <a:rPr lang="en-US" dirty="0" smtClean="0"/>
              <a:t>Data** Only successful entrepreneurs get featured.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550" b="-20550"/>
          <a:stretch/>
        </p:blipFill>
        <p:spPr>
          <a:xfrm>
            <a:off x="104503" y="539500"/>
            <a:ext cx="4259497" cy="4064400"/>
          </a:xfrm>
        </p:spPr>
      </p:pic>
    </p:spTree>
    <p:extLst>
      <p:ext uri="{BB962C8B-B14F-4D97-AF65-F5344CB8AC3E}">
        <p14:creationId xmlns:p14="http://schemas.microsoft.com/office/powerpoint/2010/main" val="2019152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000" y="-7550"/>
            <a:ext cx="3781500" cy="1094100"/>
          </a:xfrm>
        </p:spPr>
        <p:txBody>
          <a:bodyPr/>
          <a:lstStyle/>
          <a:p>
            <a:r>
              <a:rPr lang="en-US" dirty="0" smtClean="0"/>
              <a:t>Challenges Vs Sentiment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4000" y="1086550"/>
            <a:ext cx="4674492" cy="2901976"/>
          </a:xfrm>
        </p:spPr>
        <p:txBody>
          <a:bodyPr/>
          <a:lstStyle/>
          <a:p>
            <a:pPr algn="just"/>
            <a:r>
              <a:rPr lang="en-US" dirty="0"/>
              <a:t>Most data points are clustered near 1.0 (positive sentiment score), even when challenges are mentioned frequently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Data </a:t>
            </a:r>
            <a:r>
              <a:rPr lang="en-US" dirty="0"/>
              <a:t>points </a:t>
            </a:r>
            <a:r>
              <a:rPr lang="en-US" dirty="0" smtClean="0"/>
              <a:t>closer </a:t>
            </a:r>
            <a:r>
              <a:rPr lang="en-US" dirty="0"/>
              <a:t>to 0.0 (neutral or negative</a:t>
            </a:r>
            <a:r>
              <a:rPr lang="en-US" dirty="0" smtClean="0"/>
              <a:t>) </a:t>
            </a:r>
            <a:r>
              <a:rPr lang="en-US" dirty="0"/>
              <a:t>could be episodes that focus on failures, struggles, or setbacks without immediate resolution.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/>
              <a:t>Entrepreneurs likely frame struggles as learning experiences rather than failures.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**Possible bias** If challenges were framed more negatively, we’d get a stronger downward trend in sentiment.</a:t>
            </a:r>
          </a:p>
          <a:p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450" b="-19450"/>
          <a:stretch/>
        </p:blipFill>
        <p:spPr>
          <a:xfrm>
            <a:off x="139336" y="539500"/>
            <a:ext cx="4162697" cy="4064400"/>
          </a:xfrm>
        </p:spPr>
      </p:pic>
    </p:spTree>
    <p:extLst>
      <p:ext uri="{BB962C8B-B14F-4D97-AF65-F5344CB8AC3E}">
        <p14:creationId xmlns:p14="http://schemas.microsoft.com/office/powerpoint/2010/main" val="1614406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594" y="0"/>
            <a:ext cx="7744906" cy="714103"/>
          </a:xfrm>
        </p:spPr>
        <p:txBody>
          <a:bodyPr/>
          <a:lstStyle/>
          <a:p>
            <a:pPr algn="ctr"/>
            <a:r>
              <a:rPr lang="en" dirty="0"/>
              <a:t>CONCLUSIONS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594" y="714103"/>
            <a:ext cx="7744906" cy="4206240"/>
          </a:xfrm>
        </p:spPr>
        <p:txBody>
          <a:bodyPr/>
          <a:lstStyle/>
          <a:p>
            <a:pPr marL="152400" lvl="0" indent="0" algn="just">
              <a:buNone/>
            </a:pP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1. What </a:t>
            </a:r>
            <a:r>
              <a:rPr lang="en-US" dirty="0">
                <a:latin typeface="Hanken Grotesk" panose="020B0604020202020204" charset="0"/>
                <a:cs typeface="Segoe UI" panose="020B0502040204020203" pitchFamily="34" charset="0"/>
              </a:rPr>
              <a:t>common patterns emerge in successful entrepreneurial </a:t>
            </a: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journeys?</a:t>
            </a:r>
          </a:p>
          <a:p>
            <a:pPr marL="152400" lvl="0" indent="0" algn="just">
              <a:buNone/>
            </a:pPr>
            <a:endParaRPr lang="en-US" dirty="0" smtClean="0">
              <a:latin typeface="Hanken Grotesk" panose="020B0604020202020204" charset="0"/>
              <a:cs typeface="Segoe UI" panose="020B0502040204020203" pitchFamily="34" charset="0"/>
            </a:endParaRPr>
          </a:p>
          <a:p>
            <a:pPr lvl="0" algn="just">
              <a:buFont typeface="Hanken Grotesk"/>
              <a:buChar char="●"/>
            </a:pP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Through </a:t>
            </a:r>
            <a:r>
              <a:rPr lang="en-US" dirty="0">
                <a:latin typeface="Hanken Grotesk" panose="020B0604020202020204" charset="0"/>
                <a:cs typeface="Segoe UI" panose="020B0502040204020203" pitchFamily="34" charset="0"/>
              </a:rPr>
              <a:t>Sentiment Analysis we found that entrepreneurs frame      challenges positively, suggesting a resilience-based success pattern</a:t>
            </a: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.</a:t>
            </a:r>
          </a:p>
          <a:p>
            <a:pPr lvl="0" algn="just">
              <a:buFont typeface="Hanken Grotesk"/>
              <a:buChar char="●"/>
            </a:pPr>
            <a:endParaRPr lang="en-US" dirty="0">
              <a:latin typeface="Hanken Grotesk" panose="020B0604020202020204" charset="0"/>
              <a:cs typeface="Segoe UI" panose="020B0502040204020203" pitchFamily="34" charset="0"/>
            </a:endParaRPr>
          </a:p>
          <a:p>
            <a:pPr marL="152400" lvl="0" indent="0" algn="just">
              <a:buNone/>
            </a:pPr>
            <a:r>
              <a:rPr lang="en-US" dirty="0">
                <a:latin typeface="Hanken Grotesk" panose="020B0604020202020204" charset="0"/>
                <a:cs typeface="Segoe UI" panose="020B0502040204020203" pitchFamily="34" charset="0"/>
              </a:rPr>
              <a:t>2. What are the key success factors mentioned across different industries</a:t>
            </a: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?</a:t>
            </a:r>
          </a:p>
          <a:p>
            <a:pPr marL="152400" lvl="0" indent="0" algn="just">
              <a:buNone/>
            </a:pPr>
            <a:endParaRPr lang="en-US" dirty="0" smtClean="0">
              <a:latin typeface="Hanken Grotesk" panose="020B0604020202020204" charset="0"/>
              <a:cs typeface="Segoe UI" panose="020B0502040204020203" pitchFamily="34" charset="0"/>
            </a:endParaRPr>
          </a:p>
          <a:p>
            <a:pPr algn="just"/>
            <a:r>
              <a:rPr lang="en-US" dirty="0">
                <a:latin typeface="Hanken Grotesk" panose="020B0604020202020204" charset="0"/>
                <a:cs typeface="Segoe UI" panose="020B0502040204020203" pitchFamily="34" charset="0"/>
              </a:rPr>
              <a:t>The word cloud and keyword analysis highlighted themes like "build," "grow," "company," "idea," "money," "work," which consistently appear in successful stories. </a:t>
            </a:r>
            <a:endParaRPr lang="en-US" dirty="0" smtClean="0">
              <a:latin typeface="Hanken Grotesk" panose="020B0604020202020204" charset="0"/>
              <a:cs typeface="Segoe UI" panose="020B0502040204020203" pitchFamily="34" charset="0"/>
            </a:endParaRPr>
          </a:p>
          <a:p>
            <a:pPr algn="just"/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Keyword </a:t>
            </a:r>
            <a:r>
              <a:rPr lang="en-US" dirty="0">
                <a:latin typeface="Hanken Grotesk" panose="020B0604020202020204" charset="0"/>
                <a:cs typeface="Segoe UI" panose="020B0502040204020203" pitchFamily="34" charset="0"/>
              </a:rPr>
              <a:t>frequency analysis highlighted terms like "brand," "investment," "growth," "sell," "scaling," "money," indicating that these are core success factors.</a:t>
            </a:r>
            <a:endParaRPr lang="en-US" dirty="0" smtClean="0">
              <a:latin typeface="Hanken Grotesk" panose="020B0604020202020204" charset="0"/>
              <a:cs typeface="Segoe UI" panose="020B0502040204020203" pitchFamily="34" charset="0"/>
            </a:endParaRPr>
          </a:p>
          <a:p>
            <a:pPr algn="just"/>
            <a:endParaRPr lang="en-US" dirty="0" smtClean="0">
              <a:latin typeface="Hanken Grotesk" panose="020B0604020202020204" charset="0"/>
              <a:cs typeface="Segoe UI" panose="020B0502040204020203" pitchFamily="34" charset="0"/>
            </a:endParaRPr>
          </a:p>
          <a:p>
            <a:pPr marL="152400" lvl="0" indent="0" algn="just">
              <a:buNone/>
            </a:pP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3</a:t>
            </a:r>
            <a:r>
              <a:rPr lang="en-US" dirty="0">
                <a:latin typeface="Hanken Grotesk" panose="020B0604020202020204" charset="0"/>
                <a:cs typeface="Segoe UI" panose="020B0502040204020203" pitchFamily="34" charset="0"/>
              </a:rPr>
              <a:t>. Can we identify and classify different entrepreneurial strategies</a:t>
            </a: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?</a:t>
            </a:r>
          </a:p>
          <a:p>
            <a:pPr lvl="0" algn="just">
              <a:buFont typeface="Hanken Grotesk"/>
              <a:buChar char="●"/>
            </a:pPr>
            <a:endParaRPr lang="en-US" dirty="0">
              <a:latin typeface="Hanken Grotesk" panose="020B0604020202020204" charset="0"/>
              <a:cs typeface="Segoe UI" panose="020B0502040204020203" pitchFamily="34" charset="0"/>
            </a:endParaRPr>
          </a:p>
          <a:p>
            <a:pPr marL="152400" lvl="0" indent="0" algn="just">
              <a:buNone/>
            </a:pP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Clustering </a:t>
            </a:r>
            <a:r>
              <a:rPr lang="en-US" dirty="0">
                <a:latin typeface="Hanken Grotesk" panose="020B0604020202020204" charset="0"/>
                <a:cs typeface="Segoe UI" panose="020B0502040204020203" pitchFamily="34" charset="0"/>
              </a:rPr>
              <a:t>analysis segmented podcasts into low, medium, and high business term usage, helping categorize different entrepreneurial strategies</a:t>
            </a: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:</a:t>
            </a:r>
          </a:p>
          <a:p>
            <a:pPr marL="152400" lvl="0" indent="0" algn="just">
              <a:buNone/>
            </a:pPr>
            <a:endParaRPr lang="en-US" dirty="0" smtClean="0">
              <a:latin typeface="Hanken Grotesk" panose="020B0604020202020204" charset="0"/>
              <a:cs typeface="Segoe UI" panose="020B0502040204020203" pitchFamily="34" charset="0"/>
            </a:endParaRPr>
          </a:p>
          <a:p>
            <a:pPr lvl="0" algn="just">
              <a:buFont typeface="Hanken Grotesk"/>
              <a:buChar char="●"/>
            </a:pP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Low-business </a:t>
            </a:r>
            <a:r>
              <a:rPr lang="en-US" dirty="0">
                <a:latin typeface="Hanken Grotesk" panose="020B0604020202020204" charset="0"/>
                <a:cs typeface="Segoe UI" panose="020B0502040204020203" pitchFamily="34" charset="0"/>
              </a:rPr>
              <a:t>term clusters → Personal storytelling &amp; general motivation</a:t>
            </a: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.</a:t>
            </a:r>
          </a:p>
          <a:p>
            <a:pPr lvl="0" algn="just">
              <a:buFont typeface="Hanken Grotesk"/>
              <a:buChar char="●"/>
            </a:pP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Mid-level </a:t>
            </a:r>
            <a:r>
              <a:rPr lang="en-US" dirty="0">
                <a:latin typeface="Hanken Grotesk" panose="020B0604020202020204" charset="0"/>
                <a:cs typeface="Segoe UI" panose="020B0502040204020203" pitchFamily="34" charset="0"/>
              </a:rPr>
              <a:t>clusters → Balanced insights between personal and business strategy</a:t>
            </a: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.</a:t>
            </a:r>
          </a:p>
          <a:p>
            <a:pPr lvl="0" algn="just">
              <a:buFont typeface="Hanken Grotesk"/>
              <a:buChar char="●"/>
            </a:pPr>
            <a:r>
              <a:rPr lang="en-US" dirty="0" smtClean="0">
                <a:latin typeface="Hanken Grotesk" panose="020B0604020202020204" charset="0"/>
                <a:cs typeface="Segoe UI" panose="020B0502040204020203" pitchFamily="34" charset="0"/>
              </a:rPr>
              <a:t>High-business </a:t>
            </a:r>
            <a:r>
              <a:rPr lang="en-US" dirty="0">
                <a:latin typeface="Hanken Grotesk" panose="020B0604020202020204" charset="0"/>
                <a:cs typeface="Segoe UI" panose="020B0502040204020203" pitchFamily="34" charset="0"/>
              </a:rPr>
              <a:t>term clusters → Deep business strategies, investment discussions, and financial planning.</a:t>
            </a:r>
          </a:p>
        </p:txBody>
      </p:sp>
    </p:spTree>
    <p:extLst>
      <p:ext uri="{BB962C8B-B14F-4D97-AF65-F5344CB8AC3E}">
        <p14:creationId xmlns:p14="http://schemas.microsoft.com/office/powerpoint/2010/main" val="2106362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005" y="118782"/>
            <a:ext cx="8821783" cy="1094100"/>
          </a:xfrm>
        </p:spPr>
        <p:txBody>
          <a:bodyPr/>
          <a:lstStyle/>
          <a:p>
            <a:pPr algn="l"/>
            <a:r>
              <a:rPr lang="en-US" dirty="0" smtClean="0"/>
              <a:t>FUTURE IMPROVEMENTS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006" y="1212882"/>
            <a:ext cx="8821782" cy="2951443"/>
          </a:xfrm>
        </p:spPr>
        <p:txBody>
          <a:bodyPr/>
          <a:lstStyle/>
          <a:p>
            <a:pPr algn="just"/>
            <a:r>
              <a:rPr lang="en-US" dirty="0" smtClean="0">
                <a:latin typeface="Hanken Grotesk" panose="020B0604020202020204" charset="0"/>
              </a:rPr>
              <a:t>Expand </a:t>
            </a:r>
            <a:r>
              <a:rPr lang="en-US" dirty="0">
                <a:latin typeface="Hanken Grotesk" panose="020B0604020202020204" charset="0"/>
              </a:rPr>
              <a:t>dataset size and </a:t>
            </a:r>
            <a:r>
              <a:rPr lang="en-US" dirty="0" smtClean="0">
                <a:latin typeface="Hanken Grotesk" panose="020B0604020202020204" charset="0"/>
              </a:rPr>
              <a:t>sources</a:t>
            </a:r>
          </a:p>
          <a:p>
            <a:pPr marL="152400" indent="0" algn="just">
              <a:buNone/>
            </a:pPr>
            <a:r>
              <a:rPr lang="en-US" dirty="0" smtClean="0">
                <a:latin typeface="Hanken Grotesk" panose="020B0604020202020204" charset="0"/>
              </a:rPr>
              <a:t>       Incorporate </a:t>
            </a:r>
            <a:r>
              <a:rPr lang="en-US" dirty="0">
                <a:latin typeface="Hanken Grotesk" panose="020B0604020202020204" charset="0"/>
              </a:rPr>
              <a:t>more **podcast transcripts** from different sources, including  </a:t>
            </a:r>
            <a:r>
              <a:rPr lang="en-US" dirty="0" smtClean="0">
                <a:latin typeface="Hanken Grotesk" panose="020B0604020202020204" charset="0"/>
              </a:rPr>
              <a:t>YouTube and TED Talks.</a:t>
            </a:r>
          </a:p>
          <a:p>
            <a:pPr marL="152400" indent="0" algn="just">
              <a:buNone/>
            </a:pPr>
            <a:endParaRPr lang="en-US" dirty="0" smtClean="0">
              <a:latin typeface="Hanken Grotesk" panose="020B0604020202020204" charset="0"/>
            </a:endParaRPr>
          </a:p>
          <a:p>
            <a:pPr algn="just"/>
            <a:r>
              <a:rPr lang="en-US" dirty="0" smtClean="0">
                <a:latin typeface="Hanken Grotesk" panose="020B0604020202020204" charset="0"/>
              </a:rPr>
              <a:t>Advance </a:t>
            </a:r>
            <a:r>
              <a:rPr lang="en-US" dirty="0">
                <a:latin typeface="Hanken Grotesk" panose="020B0604020202020204" charset="0"/>
              </a:rPr>
              <a:t>Topic Modeling </a:t>
            </a:r>
          </a:p>
          <a:p>
            <a:pPr marL="152400" indent="0" algn="just">
              <a:buNone/>
            </a:pPr>
            <a:r>
              <a:rPr lang="en-US" dirty="0" smtClean="0">
                <a:latin typeface="Hanken Grotesk" panose="020B0604020202020204" charset="0"/>
              </a:rPr>
              <a:t>        Implementing Latent </a:t>
            </a:r>
            <a:r>
              <a:rPr lang="en-US" dirty="0" err="1">
                <a:latin typeface="Hanken Grotesk" panose="020B0604020202020204" charset="0"/>
              </a:rPr>
              <a:t>Dirichlet</a:t>
            </a:r>
            <a:r>
              <a:rPr lang="en-US" dirty="0">
                <a:latin typeface="Hanken Grotesk" panose="020B0604020202020204" charset="0"/>
              </a:rPr>
              <a:t> Allocation (LDA</a:t>
            </a:r>
            <a:r>
              <a:rPr lang="en-US" dirty="0" smtClean="0">
                <a:latin typeface="Hanken Grotesk" panose="020B0604020202020204" charset="0"/>
              </a:rPr>
              <a:t>) </a:t>
            </a:r>
            <a:r>
              <a:rPr lang="en-US" dirty="0">
                <a:latin typeface="Hanken Grotesk" panose="020B0604020202020204" charset="0"/>
              </a:rPr>
              <a:t>or </a:t>
            </a:r>
            <a:r>
              <a:rPr lang="en-US" dirty="0" smtClean="0">
                <a:latin typeface="Hanken Grotesk" panose="020B0604020202020204" charset="0"/>
              </a:rPr>
              <a:t>BERT-based </a:t>
            </a:r>
            <a:r>
              <a:rPr lang="en-US" dirty="0">
                <a:latin typeface="Hanken Grotesk" panose="020B0604020202020204" charset="0"/>
              </a:rPr>
              <a:t>topic </a:t>
            </a:r>
            <a:r>
              <a:rPr lang="en-US" dirty="0" smtClean="0">
                <a:latin typeface="Hanken Grotesk" panose="020B0604020202020204" charset="0"/>
              </a:rPr>
              <a:t>modeling.</a:t>
            </a:r>
          </a:p>
          <a:p>
            <a:pPr marL="152400" indent="0" algn="just">
              <a:buNone/>
            </a:pPr>
            <a:r>
              <a:rPr lang="en-US" dirty="0" smtClean="0">
                <a:latin typeface="Hanken Grotesk" panose="020B0604020202020204" charset="0"/>
              </a:rPr>
              <a:t> </a:t>
            </a:r>
          </a:p>
          <a:p>
            <a:pPr algn="just"/>
            <a:r>
              <a:rPr lang="en-US" dirty="0" smtClean="0">
                <a:latin typeface="Hanken Grotesk" panose="020B0604020202020204" charset="0"/>
              </a:rPr>
              <a:t>Implement </a:t>
            </a:r>
            <a:r>
              <a:rPr lang="en-US" dirty="0">
                <a:latin typeface="Hanken Grotesk" panose="020B0604020202020204" charset="0"/>
              </a:rPr>
              <a:t>advanced ML </a:t>
            </a:r>
            <a:r>
              <a:rPr lang="en-US" dirty="0" smtClean="0">
                <a:latin typeface="Hanken Grotesk" panose="020B0604020202020204" charset="0"/>
              </a:rPr>
              <a:t>models</a:t>
            </a:r>
          </a:p>
          <a:p>
            <a:pPr marL="152400" indent="0" algn="just">
              <a:buNone/>
            </a:pPr>
            <a:r>
              <a:rPr lang="en-US" dirty="0">
                <a:latin typeface="Hanken Grotesk" panose="020B0604020202020204" charset="0"/>
              </a:rPr>
              <a:t> </a:t>
            </a:r>
            <a:r>
              <a:rPr lang="en-US" dirty="0" smtClean="0">
                <a:latin typeface="Hanken Grotesk" panose="020B0604020202020204" charset="0"/>
              </a:rPr>
              <a:t>      </a:t>
            </a:r>
            <a:r>
              <a:rPr lang="en-US" dirty="0">
                <a:latin typeface="Hanken Grotesk" panose="020B0604020202020204" charset="0"/>
              </a:rPr>
              <a:t>Explore </a:t>
            </a:r>
            <a:r>
              <a:rPr lang="en-US" dirty="0" smtClean="0">
                <a:latin typeface="Hanken Grotesk" panose="020B0604020202020204" charset="0"/>
              </a:rPr>
              <a:t>predictive modeling </a:t>
            </a:r>
            <a:r>
              <a:rPr lang="en-US" dirty="0">
                <a:latin typeface="Hanken Grotesk" panose="020B0604020202020204" charset="0"/>
              </a:rPr>
              <a:t>for identifying podcast success factors. </a:t>
            </a:r>
            <a:endParaRPr lang="en-US" dirty="0" smtClean="0">
              <a:latin typeface="Hanken Grotesk" panose="020B0604020202020204" charset="0"/>
            </a:endParaRPr>
          </a:p>
          <a:p>
            <a:pPr marL="152400" indent="0" algn="just">
              <a:buNone/>
            </a:pPr>
            <a:endParaRPr lang="en-US" dirty="0" smtClean="0">
              <a:latin typeface="Hanken Grotesk" panose="020B0604020202020204" charset="0"/>
            </a:endParaRPr>
          </a:p>
          <a:p>
            <a:pPr algn="just"/>
            <a:r>
              <a:rPr lang="en-US" dirty="0" smtClean="0">
                <a:latin typeface="Hanken Grotesk" panose="020B0604020202020204" charset="0"/>
              </a:rPr>
              <a:t>Create </a:t>
            </a:r>
            <a:r>
              <a:rPr lang="en-US" dirty="0">
                <a:latin typeface="Hanken Grotesk" panose="020B0604020202020204" charset="0"/>
              </a:rPr>
              <a:t>interactive visualization </a:t>
            </a:r>
            <a:r>
              <a:rPr lang="en-US" dirty="0" smtClean="0">
                <a:latin typeface="Hanken Grotesk" panose="020B0604020202020204" charset="0"/>
              </a:rPr>
              <a:t>tools</a:t>
            </a:r>
          </a:p>
          <a:p>
            <a:pPr marL="152400" indent="0" algn="just">
              <a:buNone/>
            </a:pPr>
            <a:r>
              <a:rPr lang="en-US" dirty="0" smtClean="0"/>
              <a:t>       Develop </a:t>
            </a:r>
            <a:r>
              <a:rPr lang="en-US" b="1" dirty="0" smtClean="0"/>
              <a:t>dashboard visualizations</a:t>
            </a:r>
            <a:r>
              <a:rPr lang="en-US" dirty="0" smtClean="0"/>
              <a:t> </a:t>
            </a:r>
            <a:r>
              <a:rPr lang="en-US" dirty="0"/>
              <a:t>using </a:t>
            </a:r>
            <a:r>
              <a:rPr lang="en-US" b="1" dirty="0" err="1" smtClean="0"/>
              <a:t>Plotly</a:t>
            </a:r>
            <a:r>
              <a:rPr lang="en-US" b="1" dirty="0" smtClean="0"/>
              <a:t> </a:t>
            </a:r>
            <a:r>
              <a:rPr lang="en-US" b="1" dirty="0"/>
              <a:t>or </a:t>
            </a:r>
            <a:r>
              <a:rPr lang="en-US" b="1" dirty="0" err="1" smtClean="0"/>
              <a:t>Streamlit</a:t>
            </a:r>
            <a:r>
              <a:rPr lang="en-US" dirty="0" smtClean="0"/>
              <a:t> </a:t>
            </a:r>
            <a:r>
              <a:rPr lang="en-US" dirty="0"/>
              <a:t>for real-time data exploration.  </a:t>
            </a:r>
          </a:p>
          <a:p>
            <a:pPr marL="152400" indent="0" algn="just">
              <a:buNone/>
            </a:pPr>
            <a:r>
              <a:rPr lang="en-US" dirty="0" smtClean="0">
                <a:latin typeface="Hanken Grotesk" panose="020B0604020202020204" charset="0"/>
              </a:rPr>
              <a:t>       Allow </a:t>
            </a:r>
            <a:r>
              <a:rPr lang="en-US" dirty="0">
                <a:latin typeface="Hanken Grotesk" panose="020B0604020202020204" charset="0"/>
              </a:rPr>
              <a:t>users to **filter and compare podcast insights** based on keywords, sentiment, and business term density.  </a:t>
            </a:r>
            <a:endParaRPr lang="en-US" dirty="0" smtClean="0">
              <a:latin typeface="Hanken Grotesk" panose="020B0604020202020204" charset="0"/>
            </a:endParaRPr>
          </a:p>
          <a:p>
            <a:pPr marL="152400" indent="0" algn="just">
              <a:buNone/>
            </a:pPr>
            <a:endParaRPr lang="en-US" dirty="0" smtClean="0">
              <a:latin typeface="Hanken Grotesk" panose="020B0604020202020204" charset="0"/>
            </a:endParaRPr>
          </a:p>
          <a:p>
            <a:pPr algn="just"/>
            <a:r>
              <a:rPr lang="en-US" dirty="0" smtClean="0">
                <a:latin typeface="Hanken Grotesk" panose="020B0604020202020204" charset="0"/>
              </a:rPr>
              <a:t>Develop </a:t>
            </a:r>
            <a:r>
              <a:rPr lang="en-US" dirty="0">
                <a:latin typeface="Hanken Grotesk" panose="020B0604020202020204" charset="0"/>
              </a:rPr>
              <a:t>recommendation system </a:t>
            </a:r>
            <a:endParaRPr lang="en-US" dirty="0" smtClean="0">
              <a:latin typeface="Hanken Grotesk" panose="020B0604020202020204" charset="0"/>
            </a:endParaRPr>
          </a:p>
          <a:p>
            <a:pPr marL="152400" indent="0" algn="just">
              <a:buNone/>
            </a:pPr>
            <a:r>
              <a:rPr lang="en-US" dirty="0">
                <a:latin typeface="Hanken Grotesk" panose="020B0604020202020204" charset="0"/>
              </a:rPr>
              <a:t> </a:t>
            </a:r>
            <a:r>
              <a:rPr lang="en-US" dirty="0" smtClean="0">
                <a:latin typeface="Hanken Grotesk" panose="020B0604020202020204" charset="0"/>
              </a:rPr>
              <a:t>       Build </a:t>
            </a:r>
            <a:r>
              <a:rPr lang="en-US" dirty="0">
                <a:latin typeface="Hanken Grotesk" panose="020B0604020202020204" charset="0"/>
              </a:rPr>
              <a:t>a </a:t>
            </a:r>
            <a:r>
              <a:rPr lang="en-US" dirty="0" smtClean="0">
                <a:latin typeface="Hanken Grotesk" panose="020B0604020202020204" charset="0"/>
              </a:rPr>
              <a:t>podcast </a:t>
            </a:r>
            <a:r>
              <a:rPr lang="en-US" dirty="0">
                <a:latin typeface="Hanken Grotesk" panose="020B0604020202020204" charset="0"/>
              </a:rPr>
              <a:t>episode recommendation </a:t>
            </a:r>
            <a:r>
              <a:rPr lang="en-US" dirty="0" smtClean="0">
                <a:latin typeface="Hanken Grotesk" panose="020B0604020202020204" charset="0"/>
              </a:rPr>
              <a:t>engine </a:t>
            </a:r>
            <a:r>
              <a:rPr lang="en-US" dirty="0">
                <a:latin typeface="Hanken Grotesk" panose="020B0604020202020204" charset="0"/>
              </a:rPr>
              <a:t>that suggests content based on user preferences. </a:t>
            </a:r>
            <a:endParaRPr lang="en-US" dirty="0" smtClean="0">
              <a:latin typeface="Hanken Grotes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288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585" y="2243254"/>
            <a:ext cx="7704000" cy="572700"/>
          </a:xfrm>
        </p:spPr>
        <p:txBody>
          <a:bodyPr/>
          <a:lstStyle/>
          <a:p>
            <a:r>
              <a:rPr lang="en-US" dirty="0" smtClean="0"/>
              <a:t>THANKS!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58217"/>
      </p:ext>
    </p:extLst>
  </p:cSld>
  <p:clrMapOvr>
    <a:masterClrMapping/>
  </p:clrMapOvr>
</p:sld>
</file>

<file path=ppt/theme/theme1.xml><?xml version="1.0" encoding="utf-8"?>
<a:theme xmlns:a="http://schemas.openxmlformats.org/drawingml/2006/main" name="AI Speech Classifier Pitch Deck by Slidesgo">
  <a:themeElements>
    <a:clrScheme name="Simple Light">
      <a:dk1>
        <a:srgbClr val="FFFFFF"/>
      </a:dk1>
      <a:lt1>
        <a:srgbClr val="18191A"/>
      </a:lt1>
      <a:dk2>
        <a:srgbClr val="FF8CB8"/>
      </a:dk2>
      <a:lt2>
        <a:srgbClr val="CE3E6E"/>
      </a:lt2>
      <a:accent1>
        <a:srgbClr val="9C2443"/>
      </a:accent1>
      <a:accent2>
        <a:srgbClr val="E6AC9E"/>
      </a:accent2>
      <a:accent3>
        <a:srgbClr val="F29877"/>
      </a:accent3>
      <a:accent4>
        <a:srgbClr val="E2793E"/>
      </a:accent4>
      <a:accent5>
        <a:srgbClr val="F1C469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1402</Words>
  <Application>Microsoft Office PowerPoint</Application>
  <PresentationFormat>On-screen Show (16:9)</PresentationFormat>
  <Paragraphs>174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Hanken Grotesk</vt:lpstr>
      <vt:lpstr>Hanken Grotesk Light</vt:lpstr>
      <vt:lpstr>Syne</vt:lpstr>
      <vt:lpstr>Segoe UI</vt:lpstr>
      <vt:lpstr>Nunito Light</vt:lpstr>
      <vt:lpstr>AI Speech Classifier Pitch Deck by Slidesgo</vt:lpstr>
      <vt:lpstr>From Stories to Strategies: Uncovering Entrepreneurial Success Factors Through Podcast Transcript Analysis</vt:lpstr>
      <vt:lpstr>Problem Definition</vt:lpstr>
      <vt:lpstr>Dataset</vt:lpstr>
      <vt:lpstr>Objectives</vt:lpstr>
      <vt:lpstr>Transcript Lengths</vt:lpstr>
      <vt:lpstr>Finance &amp; Industry Terms</vt:lpstr>
      <vt:lpstr>Business Language Usage</vt:lpstr>
      <vt:lpstr>Kmeans Clustering</vt:lpstr>
      <vt:lpstr>Kmeans Clusters</vt:lpstr>
      <vt:lpstr>PowerPoint Presentation</vt:lpstr>
      <vt:lpstr>WordCloud</vt:lpstr>
      <vt:lpstr>Keyword Extraction for Key Themes</vt:lpstr>
      <vt:lpstr>Challenge Vs Success</vt:lpstr>
      <vt:lpstr>Sentiment Analysis</vt:lpstr>
      <vt:lpstr>Challenges Vs Sentiment</vt:lpstr>
      <vt:lpstr>CONCLUSIONS</vt:lpstr>
      <vt:lpstr>FUTURE IMPROVEMENTS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SPEECH CLASSIFIER PITCH DECK</dc:title>
  <dc:creator>kaew kaew</dc:creator>
  <cp:lastModifiedBy>USER</cp:lastModifiedBy>
  <cp:revision>39</cp:revision>
  <dcterms:modified xsi:type="dcterms:W3CDTF">2025-03-14T00:29:33Z</dcterms:modified>
</cp:coreProperties>
</file>